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ORADAD is an Active Directory security assessment designed by ANSSI, France's national cybersecurity agency. We run the collector on our network, ANSSI's ADS service checks the data against its control points, and we receive a maturity level from 1 to 5 with the findings to fix. A level only counts once every control below it is passed.
We use it for three reasons. As [our category] we are required to. It protects the system attackers go for first, because Active Directory holds every account, permission and sign-in. And it gives us an independent, repeatable benchmark from a state authority.
Our posture is strong. Our first scan, in [month year], placed us at level 1. Our latest, in [month year], places us at level 4 of 5. That took [N] fixed findings, a team of [N] people and [N] months alongside day-to-day operations.
To reach level 5, [N] controls remain open: [gap 1], [gap 2] and [gap 3], each with an owner and a target date. Level 4 must also be held: systems change and ANSSI keeps adding controls, so we will keep scanning regularly. The decision I am asking of the board is [your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65992" y="64008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05E5C"/>
                </a:solidFill>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65992" y="64008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05E5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84048"/>
            <a:ext cx="11274552" cy="502920"/>
          </a:xfrm>
          <a:prstGeom prst="rect">
            <a:avLst/>
          </a:prstGeom>
          <a:noFill/>
          <a:ln/>
        </p:spPr>
        <p:txBody>
          <a:bodyPr wrap="square" lIns="0" tIns="0" rIns="0" bIns="0" rtlCol="0" anchor="t"/>
          <a:lstStyle/>
          <a:p>
            <a:pPr indent="0" marL="0">
              <a:buNone/>
            </a:pPr>
            <a:r>
              <a:rPr lang="en-US" sz="2600" dirty="0">
                <a:solidFill>
                  <a:schemeClr val="tx2"/>
                </a:solidFill>
                <a:latin typeface="Segoe UI Semibold" pitchFamily="34" charset="0"/>
                <a:ea typeface="Segoe UI Semibold" pitchFamily="34" charset="-122"/>
                <a:cs typeface="Segoe UI Semibold" pitchFamily="34" charset="-120"/>
              </a:rPr>
              <a:t>ORADAD assessment: Active Directory security at level 4 of 5</a:t>
            </a:r>
            <a:endParaRPr lang="en-US" sz="2600" dirty="0"/>
          </a:p>
        </p:txBody>
      </p:sp>
      <p:sp>
        <p:nvSpPr>
          <p:cNvPr id="3" name="Text 1"/>
          <p:cNvSpPr txBox="1"/>
          <p:nvPr/>
        </p:nvSpPr>
        <p:spPr>
          <a:xfrm>
            <a:off x="457200" y="914400"/>
            <a:ext cx="11274552" cy="274320"/>
          </a:xfrm>
          <a:prstGeom prst="rect">
            <a:avLst/>
          </a:prstGeom>
          <a:noFill/>
          <a:ln/>
        </p:spPr>
        <p:txBody>
          <a:bodyPr wrap="square" lIns="0" tIns="0" rIns="0" bIns="0" rtlCol="0" anchor="t"/>
          <a:lstStyle/>
          <a:p>
            <a:pPr indent="0" marL="0">
              <a:buNone/>
            </a:pPr>
            <a:r>
              <a:rPr lang="en-US" sz="1300" dirty="0">
                <a:solidFill>
                  <a:schemeClr val="accent5"/>
                </a:solidFill>
              </a:rPr>
              <a:t>Board briefing  |  What ORADAD is, why we use it, where we stand and what remains to reach level 5</a:t>
            </a:r>
            <a:endParaRPr lang="en-US" sz="1300" dirty="0"/>
          </a:p>
        </p:txBody>
      </p:sp>
      <p:sp>
        <p:nvSpPr>
          <p:cNvPr id="4" name="Shape 2"/>
          <p:cNvSpPr/>
          <p:nvPr/>
        </p:nvSpPr>
        <p:spPr>
          <a:xfrm>
            <a:off x="457200" y="1508760"/>
            <a:ext cx="2606040" cy="0"/>
          </a:xfrm>
          <a:prstGeom prst="line">
            <a:avLst/>
          </a:prstGeom>
          <a:noFill/>
          <a:ln w="12700">
            <a:solidFill>
              <a:srgbClr val="8A8886"/>
            </a:solidFill>
            <a:prstDash val="solid"/>
          </a:ln>
        </p:spPr>
      </p:sp>
      <p:sp>
        <p:nvSpPr>
          <p:cNvPr id="5" name="Text 3"/>
          <p:cNvSpPr txBox="1"/>
          <p:nvPr/>
        </p:nvSpPr>
        <p:spPr>
          <a:xfrm>
            <a:off x="457200" y="1618488"/>
            <a:ext cx="365760" cy="274320"/>
          </a:xfrm>
          <a:prstGeom prst="rect">
            <a:avLst/>
          </a:prstGeom>
          <a:noFill/>
          <a:ln/>
        </p:spPr>
        <p:txBody>
          <a:bodyPr wrap="square" lIns="0" tIns="0" rIns="0" bIns="0" rtlCol="0" anchor="t"/>
          <a:lstStyle/>
          <a:p>
            <a:pPr indent="0" marL="0">
              <a:buNone/>
            </a:pPr>
            <a:r>
              <a:rPr lang="en-US" sz="1200" dirty="0">
                <a:solidFill>
                  <a:schemeClr val="accent1"/>
                </a:solidFill>
                <a:latin typeface="Segoe UI Semibold" pitchFamily="34" charset="0"/>
                <a:ea typeface="Segoe UI Semibold" pitchFamily="34" charset="-122"/>
                <a:cs typeface="Segoe UI Semibold" pitchFamily="34" charset="-120"/>
              </a:rPr>
              <a:t>01</a:t>
            </a:r>
            <a:endParaRPr lang="en-US" sz="1200" dirty="0"/>
          </a:p>
        </p:txBody>
      </p:sp>
      <p:sp>
        <p:nvSpPr>
          <p:cNvPr id="6" name="Text 4"/>
          <p:cNvSpPr txBox="1"/>
          <p:nvPr/>
        </p:nvSpPr>
        <p:spPr>
          <a:xfrm>
            <a:off x="822960" y="1618488"/>
            <a:ext cx="2240280" cy="274320"/>
          </a:xfrm>
          <a:prstGeom prst="rect">
            <a:avLst/>
          </a:prstGeom>
          <a:noFill/>
          <a:ln/>
        </p:spPr>
        <p:txBody>
          <a:bodyPr wrap="square" lIns="0" tIns="0" rIns="0" bIns="0" rtlCol="0" anchor="t"/>
          <a:lstStyle/>
          <a:p>
            <a:pPr indent="0" marL="0">
              <a:buNone/>
            </a:pPr>
            <a:r>
              <a:rPr lang="en-US" sz="1300" dirty="0">
                <a:solidFill>
                  <a:schemeClr val="tx2"/>
                </a:solidFill>
                <a:latin typeface="Segoe UI Semibold" pitchFamily="34" charset="0"/>
                <a:ea typeface="Segoe UI Semibold" pitchFamily="34" charset="-122"/>
                <a:cs typeface="Segoe UI Semibold" pitchFamily="34" charset="-120"/>
              </a:rPr>
              <a:t>What ORADAD is</a:t>
            </a:r>
            <a:endParaRPr lang="en-US" sz="1300" dirty="0"/>
          </a:p>
        </p:txBody>
      </p:sp>
      <p:sp>
        <p:nvSpPr>
          <p:cNvPr id="7" name="Text 5"/>
          <p:cNvSpPr txBox="1"/>
          <p:nvPr/>
        </p:nvSpPr>
        <p:spPr>
          <a:xfrm>
            <a:off x="457200" y="2057400"/>
            <a:ext cx="2606040" cy="3291840"/>
          </a:xfrm>
          <a:prstGeom prst="rect">
            <a:avLst/>
          </a:prstGeom>
          <a:noFill/>
          <a:ln/>
        </p:spPr>
        <p:txBody>
          <a:bodyPr wrap="square" lIns="0" tIns="0" rIns="0" bIns="0" rtlCol="0" anchor="t"/>
          <a:lstStyle/>
          <a:p>
            <a:pPr indent="0" marL="0">
              <a:spcAft>
                <a:spcPts val="900"/>
              </a:spcAft>
              <a:buNone/>
            </a:pPr>
            <a:r>
              <a:rPr lang="en-US" sz="1200" dirty="0">
                <a:solidFill>
                  <a:schemeClr val="tx1"/>
                </a:solidFill>
              </a:rPr>
              <a:t>An Active Directory security assessment designed by ANSSI, France’s national cybersecurity agency.</a:t>
            </a:r>
            <a:endParaRPr lang="en-US" sz="1200" dirty="0"/>
          </a:p>
          <a:p>
            <a:pPr indent="0" marL="0">
              <a:spcAft>
                <a:spcPts val="900"/>
              </a:spcAft>
              <a:buNone/>
            </a:pPr>
            <a:r>
              <a:rPr lang="en-US" sz="1200" dirty="0">
                <a:solidFill>
                  <a:schemeClr val="tx1"/>
                </a:solidFill>
              </a:rPr>
              <a:t>We run the ORADAD collector on our network; ANSSI’s ADS service checks the data against its catalogue of control points and returns a maturity level from 1 to 5, with the findings to fix.</a:t>
            </a:r>
            <a:endParaRPr lang="en-US" sz="1200" dirty="0"/>
          </a:p>
          <a:p>
            <a:pPr indent="0" marL="0">
              <a:spcAft>
                <a:spcPts val="900"/>
              </a:spcAft>
              <a:buNone/>
            </a:pPr>
            <a:r>
              <a:rPr lang="en-US" sz="1200" i="1" dirty="0">
                <a:solidFill>
                  <a:schemeClr val="accent5"/>
                </a:solidFill>
              </a:rPr>
              <a:t>A level is reached only when every control below it is passed.</a:t>
            </a:r>
            <a:endParaRPr lang="en-US" sz="1200" dirty="0"/>
          </a:p>
        </p:txBody>
      </p:sp>
      <p:sp>
        <p:nvSpPr>
          <p:cNvPr id="8" name="Shape 6"/>
          <p:cNvSpPr/>
          <p:nvPr/>
        </p:nvSpPr>
        <p:spPr>
          <a:xfrm>
            <a:off x="3346704" y="1508760"/>
            <a:ext cx="2606040" cy="0"/>
          </a:xfrm>
          <a:prstGeom prst="line">
            <a:avLst/>
          </a:prstGeom>
          <a:noFill/>
          <a:ln w="12700">
            <a:solidFill>
              <a:srgbClr val="8A8886"/>
            </a:solidFill>
            <a:prstDash val="solid"/>
          </a:ln>
        </p:spPr>
      </p:sp>
      <p:sp>
        <p:nvSpPr>
          <p:cNvPr id="9" name="Text 7"/>
          <p:cNvSpPr txBox="1"/>
          <p:nvPr/>
        </p:nvSpPr>
        <p:spPr>
          <a:xfrm>
            <a:off x="3346704" y="1618488"/>
            <a:ext cx="365760" cy="274320"/>
          </a:xfrm>
          <a:prstGeom prst="rect">
            <a:avLst/>
          </a:prstGeom>
          <a:noFill/>
          <a:ln/>
        </p:spPr>
        <p:txBody>
          <a:bodyPr wrap="square" lIns="0" tIns="0" rIns="0" bIns="0" rtlCol="0" anchor="t"/>
          <a:lstStyle/>
          <a:p>
            <a:pPr indent="0" marL="0">
              <a:buNone/>
            </a:pPr>
            <a:r>
              <a:rPr lang="en-US" sz="1200" dirty="0">
                <a:solidFill>
                  <a:schemeClr val="accent1"/>
                </a:solidFill>
                <a:latin typeface="Segoe UI Semibold" pitchFamily="34" charset="0"/>
                <a:ea typeface="Segoe UI Semibold" pitchFamily="34" charset="-122"/>
                <a:cs typeface="Segoe UI Semibold" pitchFamily="34" charset="-120"/>
              </a:rPr>
              <a:t>02</a:t>
            </a:r>
            <a:endParaRPr lang="en-US" sz="1200" dirty="0"/>
          </a:p>
        </p:txBody>
      </p:sp>
      <p:sp>
        <p:nvSpPr>
          <p:cNvPr id="10" name="Text 8"/>
          <p:cNvSpPr txBox="1"/>
          <p:nvPr/>
        </p:nvSpPr>
        <p:spPr>
          <a:xfrm>
            <a:off x="3712464" y="1618488"/>
            <a:ext cx="2240280" cy="274320"/>
          </a:xfrm>
          <a:prstGeom prst="rect">
            <a:avLst/>
          </a:prstGeom>
          <a:noFill/>
          <a:ln/>
        </p:spPr>
        <p:txBody>
          <a:bodyPr wrap="square" lIns="0" tIns="0" rIns="0" bIns="0" rtlCol="0" anchor="t"/>
          <a:lstStyle/>
          <a:p>
            <a:pPr indent="0" marL="0">
              <a:buNone/>
            </a:pPr>
            <a:r>
              <a:rPr lang="en-US" sz="1300" dirty="0">
                <a:solidFill>
                  <a:schemeClr val="tx2"/>
                </a:solidFill>
                <a:latin typeface="Segoe UI Semibold" pitchFamily="34" charset="0"/>
                <a:ea typeface="Segoe UI Semibold" pitchFamily="34" charset="-122"/>
                <a:cs typeface="Segoe UI Semibold" pitchFamily="34" charset="-120"/>
              </a:rPr>
              <a:t>Why we use it</a:t>
            </a:r>
            <a:endParaRPr lang="en-US" sz="1300" dirty="0"/>
          </a:p>
        </p:txBody>
      </p:sp>
      <p:sp>
        <p:nvSpPr>
          <p:cNvPr id="11" name="Text 9"/>
          <p:cNvSpPr txBox="1"/>
          <p:nvPr/>
        </p:nvSpPr>
        <p:spPr>
          <a:xfrm>
            <a:off x="3346704" y="2057400"/>
            <a:ext cx="2606040" cy="960120"/>
          </a:xfrm>
          <a:prstGeom prst="rect">
            <a:avLst/>
          </a:prstGeom>
          <a:noFill/>
          <a:ln/>
        </p:spPr>
        <p:txBody>
          <a:bodyPr wrap="square" lIns="0" tIns="0" rIns="0" bIns="0" rtlCol="0" anchor="t"/>
          <a:lstStyle/>
          <a:p>
            <a:pPr indent="0" marL="0">
              <a:buNone/>
            </a:pPr>
            <a:r>
              <a:rPr lang="en-US" sz="1200" dirty="0">
                <a:solidFill>
                  <a:schemeClr val="tx2"/>
                </a:solidFill>
                <a:latin typeface="Segoe UI Semibold" pitchFamily="34" charset="0"/>
                <a:ea typeface="Segoe UI Semibold" pitchFamily="34" charset="-122"/>
                <a:cs typeface="Segoe UI Semibold" pitchFamily="34" charset="-120"/>
              </a:rPr>
              <a:t>Regulatory requirement</a:t>
            </a:r>
            <a:endParaRPr lang="en-US" sz="1200" dirty="0"/>
          </a:p>
          <a:p>
            <a:pPr indent="0" marL="0">
              <a:buNone/>
            </a:pPr>
            <a:r>
              <a:rPr lang="en-US" sz="1200" dirty="0">
                <a:solidFill>
                  <a:schemeClr val="tx1"/>
                </a:solidFill>
              </a:rPr>
              <a:t>As </a:t>
            </a:r>
            <a:pPr indent="0" marL="0">
              <a:buNone/>
            </a:pPr>
            <a:r>
              <a:rPr lang="en-US" sz="1200" dirty="0">
                <a:solidFill>
                  <a:schemeClr val="accent2"/>
                </a:solidFill>
              </a:rPr>
              <a:t>[our category]</a:t>
            </a:r>
            <a:pPr indent="0" marL="0">
              <a:buNone/>
            </a:pPr>
            <a:r>
              <a:rPr lang="en-US" sz="1200" dirty="0">
                <a:solidFill>
                  <a:schemeClr val="tx1"/>
                </a:solidFill>
              </a:rPr>
              <a:t>, we are required to run it.</a:t>
            </a:r>
            <a:endParaRPr lang="en-US" sz="1200" dirty="0"/>
          </a:p>
        </p:txBody>
      </p:sp>
      <p:sp>
        <p:nvSpPr>
          <p:cNvPr id="12" name="Text 10"/>
          <p:cNvSpPr txBox="1"/>
          <p:nvPr/>
        </p:nvSpPr>
        <p:spPr>
          <a:xfrm>
            <a:off x="3346704" y="2953512"/>
            <a:ext cx="2606040" cy="960120"/>
          </a:xfrm>
          <a:prstGeom prst="rect">
            <a:avLst/>
          </a:prstGeom>
          <a:noFill/>
          <a:ln/>
        </p:spPr>
        <p:txBody>
          <a:bodyPr wrap="square" lIns="0" tIns="0" rIns="0" bIns="0" rtlCol="0" anchor="t"/>
          <a:lstStyle/>
          <a:p>
            <a:pPr indent="0" marL="0">
              <a:buNone/>
            </a:pPr>
            <a:r>
              <a:rPr lang="en-US" sz="1200" dirty="0">
                <a:solidFill>
                  <a:schemeClr val="tx2"/>
                </a:solidFill>
                <a:latin typeface="Segoe UI Semibold" pitchFamily="34" charset="0"/>
                <a:ea typeface="Segoe UI Semibold" pitchFamily="34" charset="-122"/>
                <a:cs typeface="Segoe UI Semibold" pitchFamily="34" charset="-120"/>
              </a:rPr>
              <a:t>Protects the crown jewels</a:t>
            </a:r>
            <a:endParaRPr lang="en-US" sz="1200" dirty="0"/>
          </a:p>
          <a:p>
            <a:pPr indent="0" marL="0">
              <a:buNone/>
            </a:pPr>
            <a:r>
              <a:rPr lang="en-US" sz="1200" dirty="0">
                <a:solidFill>
                  <a:schemeClr val="tx1"/>
                </a:solidFill>
              </a:rPr>
              <a:t>Active Directory holds every account, permission and sign-in. It is the first target of an attack.</a:t>
            </a:r>
            <a:endParaRPr lang="en-US" sz="1200" dirty="0"/>
          </a:p>
        </p:txBody>
      </p:sp>
      <p:sp>
        <p:nvSpPr>
          <p:cNvPr id="13" name="Text 11"/>
          <p:cNvSpPr txBox="1"/>
          <p:nvPr/>
        </p:nvSpPr>
        <p:spPr>
          <a:xfrm>
            <a:off x="3346704" y="3849624"/>
            <a:ext cx="2606040" cy="960120"/>
          </a:xfrm>
          <a:prstGeom prst="rect">
            <a:avLst/>
          </a:prstGeom>
          <a:noFill/>
          <a:ln/>
        </p:spPr>
        <p:txBody>
          <a:bodyPr wrap="square" lIns="0" tIns="0" rIns="0" bIns="0" rtlCol="0" anchor="t"/>
          <a:lstStyle/>
          <a:p>
            <a:pPr indent="0" marL="0">
              <a:buNone/>
            </a:pPr>
            <a:r>
              <a:rPr lang="en-US" sz="1200" dirty="0">
                <a:solidFill>
                  <a:schemeClr val="tx2"/>
                </a:solidFill>
                <a:latin typeface="Segoe UI Semibold" pitchFamily="34" charset="0"/>
                <a:ea typeface="Segoe UI Semibold" pitchFamily="34" charset="-122"/>
                <a:cs typeface="Segoe UI Semibold" pitchFamily="34" charset="-120"/>
              </a:rPr>
              <a:t>Independent benchmark</a:t>
            </a:r>
            <a:endParaRPr lang="en-US" sz="1200" dirty="0"/>
          </a:p>
          <a:p>
            <a:pPr indent="0" marL="0">
              <a:buNone/>
            </a:pPr>
            <a:r>
              <a:rPr lang="en-US" sz="1200" dirty="0">
                <a:solidFill>
                  <a:schemeClr val="tx1"/>
                </a:solidFill>
              </a:rPr>
              <a:t>A state-authority measure, repeatable scan after scan.</a:t>
            </a:r>
            <a:endParaRPr lang="en-US" sz="1200" dirty="0"/>
          </a:p>
        </p:txBody>
      </p:sp>
      <p:sp>
        <p:nvSpPr>
          <p:cNvPr id="14" name="Score"/>
          <p:cNvSpPr/>
          <p:nvPr/>
        </p:nvSpPr>
        <p:spPr>
          <a:xfrm>
            <a:off x="6236208" y="1508760"/>
            <a:ext cx="2606040" cy="3931920"/>
          </a:xfrm>
          <a:prstGeom prst="rect">
            <a:avLst/>
          </a:prstGeom>
          <a:solidFill>
            <a:schemeClr val="tx2"/>
          </a:solidFill>
          <a:ln/>
        </p:spPr>
      </p:sp>
      <p:sp>
        <p:nvSpPr>
          <p:cNvPr id="15" name="Text 13"/>
          <p:cNvSpPr txBox="1"/>
          <p:nvPr/>
        </p:nvSpPr>
        <p:spPr>
          <a:xfrm>
            <a:off x="6464808" y="1691640"/>
            <a:ext cx="2148840" cy="274320"/>
          </a:xfrm>
          <a:prstGeom prst="rect">
            <a:avLst/>
          </a:prstGeom>
          <a:noFill/>
          <a:ln/>
        </p:spPr>
        <p:txBody>
          <a:bodyPr wrap="square" lIns="0" tIns="0" rIns="0" bIns="0" rtlCol="0" anchor="t"/>
          <a:lstStyle/>
          <a:p>
            <a:pPr indent="0" marL="0">
              <a:buNone/>
            </a:pPr>
            <a:r>
              <a:rPr lang="en-US" sz="1300" dirty="0">
                <a:solidFill>
                  <a:schemeClr val="bg1"/>
                </a:solidFill>
                <a:latin typeface="Segoe UI Semibold" pitchFamily="34" charset="0"/>
                <a:ea typeface="Segoe UI Semibold" pitchFamily="34" charset="-122"/>
                <a:cs typeface="Segoe UI Semibold" pitchFamily="34" charset="-120"/>
              </a:rPr>
              <a:t>Our security posture</a:t>
            </a:r>
            <a:endParaRPr lang="en-US" sz="1300" dirty="0"/>
          </a:p>
        </p:txBody>
      </p:sp>
      <p:sp>
        <p:nvSpPr>
          <p:cNvPr id="16" name="Text 14"/>
          <p:cNvSpPr txBox="1"/>
          <p:nvPr/>
        </p:nvSpPr>
        <p:spPr>
          <a:xfrm>
            <a:off x="6464808" y="2011680"/>
            <a:ext cx="2148840" cy="868680"/>
          </a:xfrm>
          <a:prstGeom prst="rect">
            <a:avLst/>
          </a:prstGeom>
          <a:noFill/>
          <a:ln/>
        </p:spPr>
        <p:txBody>
          <a:bodyPr wrap="square" lIns="0" tIns="0" rIns="0" bIns="0" rtlCol="0" anchor="b"/>
          <a:lstStyle/>
          <a:p>
            <a:pPr indent="0" marL="0">
              <a:buNone/>
            </a:pPr>
            <a:r>
              <a:rPr lang="en-US" sz="2000" dirty="0">
                <a:solidFill>
                  <a:schemeClr val="bg1"/>
                </a:solidFill>
                <a:latin typeface="Segoe UI Semibold" pitchFamily="34" charset="0"/>
                <a:ea typeface="Segoe UI Semibold" pitchFamily="34" charset="-122"/>
                <a:cs typeface="Segoe UI Semibold" pitchFamily="34" charset="-120"/>
              </a:rPr>
              <a:t>Level </a:t>
            </a:r>
            <a:pPr indent="0" marL="0">
              <a:buNone/>
            </a:pPr>
            <a:r>
              <a:rPr lang="en-US" sz="5400" dirty="0">
                <a:solidFill>
                  <a:schemeClr val="bg1"/>
                </a:solidFill>
                <a:latin typeface="Segoe UI Semibold" pitchFamily="34" charset="0"/>
                <a:ea typeface="Segoe UI Semibold" pitchFamily="34" charset="-122"/>
                <a:cs typeface="Segoe UI Semibold" pitchFamily="34" charset="-120"/>
              </a:rPr>
              <a:t>4</a:t>
            </a:r>
            <a:pPr indent="0" marL="0">
              <a:buNone/>
            </a:pPr>
            <a:r>
              <a:rPr lang="en-US" sz="2000" dirty="0">
                <a:solidFill>
                  <a:srgbClr val="B9C7D6"/>
                </a:solidFill>
                <a:latin typeface="Segoe UI Semibold" pitchFamily="34" charset="0"/>
                <a:ea typeface="Segoe UI Semibold" pitchFamily="34" charset="-122"/>
                <a:cs typeface="Segoe UI Semibold" pitchFamily="34" charset="-120"/>
              </a:rPr>
              <a:t>  of 5</a:t>
            </a:r>
            <a:endParaRPr lang="en-US" sz="2000" dirty="0"/>
          </a:p>
        </p:txBody>
      </p:sp>
      <p:sp>
        <p:nvSpPr>
          <p:cNvPr id="17" name="Shape 15"/>
          <p:cNvSpPr/>
          <p:nvPr/>
        </p:nvSpPr>
        <p:spPr>
          <a:xfrm>
            <a:off x="6464808" y="2990088"/>
            <a:ext cx="393192" cy="91440"/>
          </a:xfrm>
          <a:prstGeom prst="rect">
            <a:avLst/>
          </a:prstGeom>
          <a:solidFill>
            <a:srgbClr val="0078D4"/>
          </a:solidFill>
          <a:ln/>
        </p:spPr>
      </p:sp>
      <p:sp>
        <p:nvSpPr>
          <p:cNvPr id="18" name="Shape 16"/>
          <p:cNvSpPr/>
          <p:nvPr/>
        </p:nvSpPr>
        <p:spPr>
          <a:xfrm>
            <a:off x="6903720" y="2990088"/>
            <a:ext cx="393192" cy="91440"/>
          </a:xfrm>
          <a:prstGeom prst="rect">
            <a:avLst/>
          </a:prstGeom>
          <a:solidFill>
            <a:srgbClr val="0078D4"/>
          </a:solidFill>
          <a:ln/>
        </p:spPr>
      </p:sp>
      <p:sp>
        <p:nvSpPr>
          <p:cNvPr id="19" name="Shape 17"/>
          <p:cNvSpPr/>
          <p:nvPr/>
        </p:nvSpPr>
        <p:spPr>
          <a:xfrm>
            <a:off x="7342632" y="2990088"/>
            <a:ext cx="393192" cy="91440"/>
          </a:xfrm>
          <a:prstGeom prst="rect">
            <a:avLst/>
          </a:prstGeom>
          <a:solidFill>
            <a:srgbClr val="0078D4"/>
          </a:solidFill>
          <a:ln/>
        </p:spPr>
      </p:sp>
      <p:sp>
        <p:nvSpPr>
          <p:cNvPr id="20" name="Shape 18"/>
          <p:cNvSpPr/>
          <p:nvPr/>
        </p:nvSpPr>
        <p:spPr>
          <a:xfrm>
            <a:off x="7781544" y="2990088"/>
            <a:ext cx="393192" cy="91440"/>
          </a:xfrm>
          <a:prstGeom prst="rect">
            <a:avLst/>
          </a:prstGeom>
          <a:solidFill>
            <a:srgbClr val="0078D4"/>
          </a:solidFill>
          <a:ln/>
        </p:spPr>
      </p:sp>
      <p:sp>
        <p:nvSpPr>
          <p:cNvPr id="21" name="Shape 19"/>
          <p:cNvSpPr/>
          <p:nvPr/>
        </p:nvSpPr>
        <p:spPr>
          <a:xfrm>
            <a:off x="8220456" y="2990088"/>
            <a:ext cx="393192" cy="91440"/>
          </a:xfrm>
          <a:prstGeom prst="rect">
            <a:avLst/>
          </a:prstGeom>
          <a:solidFill>
            <a:srgbClr val="34506E"/>
          </a:solidFill>
          <a:ln/>
        </p:spPr>
      </p:sp>
      <p:sp>
        <p:nvSpPr>
          <p:cNvPr id="22" name="Text 20"/>
          <p:cNvSpPr txBox="1"/>
          <p:nvPr/>
        </p:nvSpPr>
        <p:spPr>
          <a:xfrm>
            <a:off x="6464808" y="3200400"/>
            <a:ext cx="2148840" cy="502920"/>
          </a:xfrm>
          <a:prstGeom prst="rect">
            <a:avLst/>
          </a:prstGeom>
          <a:noFill/>
          <a:ln/>
        </p:spPr>
        <p:txBody>
          <a:bodyPr wrap="square" lIns="0" tIns="0" rIns="0" bIns="0" rtlCol="0" anchor="t"/>
          <a:lstStyle/>
          <a:p>
            <a:pPr indent="0" marL="0">
              <a:buNone/>
            </a:pPr>
            <a:r>
              <a:rPr lang="en-US" sz="1100" dirty="0">
                <a:solidFill>
                  <a:srgbClr val="DCE4EC"/>
                </a:solidFill>
              </a:rPr>
              <a:t>Strong: up from level 1 at our first scan, one level from the top of ANSSI’s scale.</a:t>
            </a:r>
            <a:endParaRPr lang="en-US" sz="1100" dirty="0"/>
          </a:p>
        </p:txBody>
      </p:sp>
      <p:sp>
        <p:nvSpPr>
          <p:cNvPr id="23" name="Shape 21"/>
          <p:cNvSpPr/>
          <p:nvPr/>
        </p:nvSpPr>
        <p:spPr>
          <a:xfrm>
            <a:off x="6464808" y="3794760"/>
            <a:ext cx="2148840" cy="0"/>
          </a:xfrm>
          <a:prstGeom prst="line">
            <a:avLst/>
          </a:prstGeom>
          <a:noFill/>
          <a:ln w="9525">
            <a:solidFill>
              <a:srgbClr val="34506E"/>
            </a:solidFill>
            <a:prstDash val="solid"/>
          </a:ln>
        </p:spPr>
      </p:sp>
      <p:sp>
        <p:nvSpPr>
          <p:cNvPr id="24" name="Text 22"/>
          <p:cNvSpPr txBox="1"/>
          <p:nvPr/>
        </p:nvSpPr>
        <p:spPr>
          <a:xfrm>
            <a:off x="6464808" y="3858768"/>
            <a:ext cx="731520" cy="246888"/>
          </a:xfrm>
          <a:prstGeom prst="rect">
            <a:avLst/>
          </a:prstGeom>
          <a:noFill/>
          <a:ln/>
        </p:spPr>
        <p:txBody>
          <a:bodyPr wrap="square" lIns="0" tIns="0" rIns="0" bIns="0" rtlCol="0" anchor="t"/>
          <a:lstStyle/>
          <a:p>
            <a:pPr indent="0" marL="0">
              <a:buNone/>
            </a:pPr>
            <a:r>
              <a:rPr lang="en-US" sz="1100" dirty="0">
                <a:solidFill>
                  <a:srgbClr val="B9C7D6"/>
                </a:solidFill>
              </a:rPr>
              <a:t>First</a:t>
            </a:r>
            <a:endParaRPr lang="en-US" sz="1100" dirty="0"/>
          </a:p>
        </p:txBody>
      </p:sp>
      <p:sp>
        <p:nvSpPr>
          <p:cNvPr id="25" name="Text 23"/>
          <p:cNvSpPr txBox="1"/>
          <p:nvPr/>
        </p:nvSpPr>
        <p:spPr>
          <a:xfrm>
            <a:off x="7059168" y="3858768"/>
            <a:ext cx="868680" cy="246888"/>
          </a:xfrm>
          <a:prstGeom prst="rect">
            <a:avLst/>
          </a:prstGeom>
          <a:noFill/>
          <a:ln/>
        </p:spPr>
        <p:txBody>
          <a:bodyPr wrap="square" lIns="0" tIns="0" rIns="0" bIns="0" rtlCol="0" anchor="t"/>
          <a:lstStyle/>
          <a:p>
            <a:pPr indent="0" marL="0">
              <a:buNone/>
            </a:pPr>
            <a:r>
              <a:rPr lang="en-US" sz="1100" dirty="0">
                <a:solidFill>
                  <a:srgbClr val="FFB38A"/>
                </a:solidFill>
              </a:rPr>
              <a:t>[Month Year]</a:t>
            </a:r>
            <a:endParaRPr lang="en-US" sz="1100" dirty="0"/>
          </a:p>
        </p:txBody>
      </p:sp>
      <p:sp>
        <p:nvSpPr>
          <p:cNvPr id="26" name="Text 24"/>
          <p:cNvSpPr txBox="1"/>
          <p:nvPr/>
        </p:nvSpPr>
        <p:spPr>
          <a:xfrm>
            <a:off x="8110728" y="3858768"/>
            <a:ext cx="502920" cy="246888"/>
          </a:xfrm>
          <a:prstGeom prst="rect">
            <a:avLst/>
          </a:prstGeom>
          <a:noFill/>
          <a:ln/>
        </p:spPr>
        <p:txBody>
          <a:bodyPr wrap="square" lIns="0" tIns="0" rIns="0" bIns="0" rtlCol="0" anchor="t"/>
          <a:lstStyle/>
          <a:p>
            <a:pPr algn="r" indent="0" marL="0">
              <a:buNone/>
            </a:pPr>
            <a:r>
              <a:rPr lang="en-US" sz="1100" dirty="0">
                <a:solidFill>
                  <a:schemeClr val="bg1"/>
                </a:solidFill>
                <a:latin typeface="Segoe UI Semibold" pitchFamily="34" charset="0"/>
                <a:ea typeface="Segoe UI Semibold" pitchFamily="34" charset="-122"/>
                <a:cs typeface="Segoe UI Semibold" pitchFamily="34" charset="-120"/>
              </a:rPr>
              <a:t>Level 1</a:t>
            </a:r>
            <a:endParaRPr lang="en-US" sz="1100" dirty="0"/>
          </a:p>
        </p:txBody>
      </p:sp>
      <p:sp>
        <p:nvSpPr>
          <p:cNvPr id="27" name="Shape 25"/>
          <p:cNvSpPr/>
          <p:nvPr/>
        </p:nvSpPr>
        <p:spPr>
          <a:xfrm>
            <a:off x="6464808" y="4123944"/>
            <a:ext cx="2148840" cy="0"/>
          </a:xfrm>
          <a:prstGeom prst="line">
            <a:avLst/>
          </a:prstGeom>
          <a:noFill/>
          <a:ln w="9525">
            <a:solidFill>
              <a:srgbClr val="34506E"/>
            </a:solidFill>
            <a:prstDash val="solid"/>
          </a:ln>
        </p:spPr>
      </p:sp>
      <p:sp>
        <p:nvSpPr>
          <p:cNvPr id="28" name="Text 26"/>
          <p:cNvSpPr txBox="1"/>
          <p:nvPr/>
        </p:nvSpPr>
        <p:spPr>
          <a:xfrm>
            <a:off x="6464808" y="4187952"/>
            <a:ext cx="731520" cy="246888"/>
          </a:xfrm>
          <a:prstGeom prst="rect">
            <a:avLst/>
          </a:prstGeom>
          <a:noFill/>
          <a:ln/>
        </p:spPr>
        <p:txBody>
          <a:bodyPr wrap="square" lIns="0" tIns="0" rIns="0" bIns="0" rtlCol="0" anchor="t"/>
          <a:lstStyle/>
          <a:p>
            <a:pPr indent="0" marL="0">
              <a:buNone/>
            </a:pPr>
            <a:r>
              <a:rPr lang="en-US" sz="1100" dirty="0">
                <a:solidFill>
                  <a:srgbClr val="B9C7D6"/>
                </a:solidFill>
              </a:rPr>
              <a:t>Latest</a:t>
            </a:r>
            <a:endParaRPr lang="en-US" sz="1100" dirty="0"/>
          </a:p>
        </p:txBody>
      </p:sp>
      <p:sp>
        <p:nvSpPr>
          <p:cNvPr id="29" name="Text 27"/>
          <p:cNvSpPr txBox="1"/>
          <p:nvPr/>
        </p:nvSpPr>
        <p:spPr>
          <a:xfrm>
            <a:off x="7059168" y="4187952"/>
            <a:ext cx="868680" cy="246888"/>
          </a:xfrm>
          <a:prstGeom prst="rect">
            <a:avLst/>
          </a:prstGeom>
          <a:noFill/>
          <a:ln/>
        </p:spPr>
        <p:txBody>
          <a:bodyPr wrap="square" lIns="0" tIns="0" rIns="0" bIns="0" rtlCol="0" anchor="t"/>
          <a:lstStyle/>
          <a:p>
            <a:pPr indent="0" marL="0">
              <a:buNone/>
            </a:pPr>
            <a:r>
              <a:rPr lang="en-US" sz="1100" dirty="0">
                <a:solidFill>
                  <a:srgbClr val="FFB38A"/>
                </a:solidFill>
              </a:rPr>
              <a:t>[Month Year]</a:t>
            </a:r>
            <a:endParaRPr lang="en-US" sz="1100" dirty="0"/>
          </a:p>
        </p:txBody>
      </p:sp>
      <p:sp>
        <p:nvSpPr>
          <p:cNvPr id="30" name="Text 28"/>
          <p:cNvSpPr txBox="1"/>
          <p:nvPr/>
        </p:nvSpPr>
        <p:spPr>
          <a:xfrm>
            <a:off x="8110728" y="4187952"/>
            <a:ext cx="502920" cy="246888"/>
          </a:xfrm>
          <a:prstGeom prst="rect">
            <a:avLst/>
          </a:prstGeom>
          <a:noFill/>
          <a:ln/>
        </p:spPr>
        <p:txBody>
          <a:bodyPr wrap="square" lIns="0" tIns="0" rIns="0" bIns="0" rtlCol="0" anchor="t"/>
          <a:lstStyle/>
          <a:p>
            <a:pPr algn="r" indent="0" marL="0">
              <a:buNone/>
            </a:pPr>
            <a:r>
              <a:rPr lang="en-US" sz="1100" dirty="0">
                <a:solidFill>
                  <a:schemeClr val="bg1"/>
                </a:solidFill>
                <a:latin typeface="Segoe UI Semibold" pitchFamily="34" charset="0"/>
                <a:ea typeface="Segoe UI Semibold" pitchFamily="34" charset="-122"/>
                <a:cs typeface="Segoe UI Semibold" pitchFamily="34" charset="-120"/>
              </a:rPr>
              <a:t>Level 4</a:t>
            </a:r>
            <a:endParaRPr lang="en-US" sz="1100" dirty="0"/>
          </a:p>
        </p:txBody>
      </p:sp>
      <p:sp>
        <p:nvSpPr>
          <p:cNvPr id="31" name="Shape 29"/>
          <p:cNvSpPr/>
          <p:nvPr/>
        </p:nvSpPr>
        <p:spPr>
          <a:xfrm>
            <a:off x="6464808" y="4453128"/>
            <a:ext cx="2148840" cy="0"/>
          </a:xfrm>
          <a:prstGeom prst="line">
            <a:avLst/>
          </a:prstGeom>
          <a:noFill/>
          <a:ln w="9525">
            <a:solidFill>
              <a:srgbClr val="34506E"/>
            </a:solidFill>
            <a:prstDash val="solid"/>
          </a:ln>
        </p:spPr>
      </p:sp>
      <p:sp>
        <p:nvSpPr>
          <p:cNvPr id="32" name="Text 30"/>
          <p:cNvSpPr txBox="1"/>
          <p:nvPr/>
        </p:nvSpPr>
        <p:spPr>
          <a:xfrm>
            <a:off x="6464808" y="4572000"/>
            <a:ext cx="716280" cy="384048"/>
          </a:xfrm>
          <a:prstGeom prst="rect">
            <a:avLst/>
          </a:prstGeom>
          <a:noFill/>
          <a:ln/>
        </p:spPr>
        <p:txBody>
          <a:bodyPr wrap="square" lIns="0" tIns="0" rIns="0" bIns="0" rtlCol="0" anchor="t"/>
          <a:lstStyle/>
          <a:p>
            <a:pPr indent="0" marL="0">
              <a:buNone/>
            </a:pPr>
            <a:r>
              <a:rPr lang="en-US" sz="2000" dirty="0">
                <a:solidFill>
                  <a:srgbClr val="FFB38A"/>
                </a:solidFill>
                <a:latin typeface="Segoe UI Semibold" pitchFamily="34" charset="0"/>
                <a:ea typeface="Segoe UI Semibold" pitchFamily="34" charset="-122"/>
                <a:cs typeface="Segoe UI Semibold" pitchFamily="34" charset="-120"/>
              </a:rPr>
              <a:t>[N]</a:t>
            </a:r>
            <a:endParaRPr lang="en-US" sz="2000" dirty="0"/>
          </a:p>
        </p:txBody>
      </p:sp>
      <p:sp>
        <p:nvSpPr>
          <p:cNvPr id="33" name="Text 31"/>
          <p:cNvSpPr txBox="1"/>
          <p:nvPr/>
        </p:nvSpPr>
        <p:spPr>
          <a:xfrm>
            <a:off x="6464808" y="4956048"/>
            <a:ext cx="716280" cy="274320"/>
          </a:xfrm>
          <a:prstGeom prst="rect">
            <a:avLst/>
          </a:prstGeom>
          <a:noFill/>
          <a:ln/>
        </p:spPr>
        <p:txBody>
          <a:bodyPr wrap="square" lIns="0" tIns="0" rIns="0" bIns="0" rtlCol="0" anchor="t"/>
          <a:lstStyle/>
          <a:p>
            <a:pPr indent="0" marL="0">
              <a:buNone/>
            </a:pPr>
            <a:r>
              <a:rPr lang="en-US" sz="1100" dirty="0">
                <a:solidFill>
                  <a:srgbClr val="B9C7D6"/>
                </a:solidFill>
              </a:rPr>
              <a:t>fixed</a:t>
            </a:r>
            <a:endParaRPr lang="en-US" sz="1100" dirty="0"/>
          </a:p>
        </p:txBody>
      </p:sp>
      <p:sp>
        <p:nvSpPr>
          <p:cNvPr id="34" name="Text 32"/>
          <p:cNvSpPr txBox="1"/>
          <p:nvPr/>
        </p:nvSpPr>
        <p:spPr>
          <a:xfrm>
            <a:off x="7181088" y="4572000"/>
            <a:ext cx="716280" cy="384048"/>
          </a:xfrm>
          <a:prstGeom prst="rect">
            <a:avLst/>
          </a:prstGeom>
          <a:noFill/>
          <a:ln/>
        </p:spPr>
        <p:txBody>
          <a:bodyPr wrap="square" lIns="0" tIns="0" rIns="0" bIns="0" rtlCol="0" anchor="t"/>
          <a:lstStyle/>
          <a:p>
            <a:pPr indent="0" marL="0">
              <a:buNone/>
            </a:pPr>
            <a:r>
              <a:rPr lang="en-US" sz="2000" dirty="0">
                <a:solidFill>
                  <a:srgbClr val="FFB38A"/>
                </a:solidFill>
                <a:latin typeface="Segoe UI Semibold" pitchFamily="34" charset="0"/>
                <a:ea typeface="Segoe UI Semibold" pitchFamily="34" charset="-122"/>
                <a:cs typeface="Segoe UI Semibold" pitchFamily="34" charset="-120"/>
              </a:rPr>
              <a:t>[N]</a:t>
            </a:r>
            <a:endParaRPr lang="en-US" sz="2000" dirty="0"/>
          </a:p>
        </p:txBody>
      </p:sp>
      <p:sp>
        <p:nvSpPr>
          <p:cNvPr id="35" name="Text 33"/>
          <p:cNvSpPr txBox="1"/>
          <p:nvPr/>
        </p:nvSpPr>
        <p:spPr>
          <a:xfrm>
            <a:off x="7181088" y="4956048"/>
            <a:ext cx="716280" cy="274320"/>
          </a:xfrm>
          <a:prstGeom prst="rect">
            <a:avLst/>
          </a:prstGeom>
          <a:noFill/>
          <a:ln/>
        </p:spPr>
        <p:txBody>
          <a:bodyPr wrap="square" lIns="0" tIns="0" rIns="0" bIns="0" rtlCol="0" anchor="t"/>
          <a:lstStyle/>
          <a:p>
            <a:pPr indent="0" marL="0">
              <a:buNone/>
            </a:pPr>
            <a:r>
              <a:rPr lang="en-US" sz="1100" dirty="0">
                <a:solidFill>
                  <a:srgbClr val="B9C7D6"/>
                </a:solidFill>
              </a:rPr>
              <a:t>people</a:t>
            </a:r>
            <a:endParaRPr lang="en-US" sz="1100" dirty="0"/>
          </a:p>
        </p:txBody>
      </p:sp>
      <p:sp>
        <p:nvSpPr>
          <p:cNvPr id="36" name="Text 34"/>
          <p:cNvSpPr txBox="1"/>
          <p:nvPr/>
        </p:nvSpPr>
        <p:spPr>
          <a:xfrm>
            <a:off x="7897368" y="4572000"/>
            <a:ext cx="716280" cy="384048"/>
          </a:xfrm>
          <a:prstGeom prst="rect">
            <a:avLst/>
          </a:prstGeom>
          <a:noFill/>
          <a:ln/>
        </p:spPr>
        <p:txBody>
          <a:bodyPr wrap="square" lIns="0" tIns="0" rIns="0" bIns="0" rtlCol="0" anchor="t"/>
          <a:lstStyle/>
          <a:p>
            <a:pPr indent="0" marL="0">
              <a:buNone/>
            </a:pPr>
            <a:r>
              <a:rPr lang="en-US" sz="2000" dirty="0">
                <a:solidFill>
                  <a:srgbClr val="FFB38A"/>
                </a:solidFill>
                <a:latin typeface="Segoe UI Semibold" pitchFamily="34" charset="0"/>
                <a:ea typeface="Segoe UI Semibold" pitchFamily="34" charset="-122"/>
                <a:cs typeface="Segoe UI Semibold" pitchFamily="34" charset="-120"/>
              </a:rPr>
              <a:t>[N]</a:t>
            </a:r>
            <a:endParaRPr lang="en-US" sz="2000" dirty="0"/>
          </a:p>
        </p:txBody>
      </p:sp>
      <p:sp>
        <p:nvSpPr>
          <p:cNvPr id="37" name="Text 35"/>
          <p:cNvSpPr txBox="1"/>
          <p:nvPr/>
        </p:nvSpPr>
        <p:spPr>
          <a:xfrm>
            <a:off x="7897368" y="4956048"/>
            <a:ext cx="716280" cy="274320"/>
          </a:xfrm>
          <a:prstGeom prst="rect">
            <a:avLst/>
          </a:prstGeom>
          <a:noFill/>
          <a:ln/>
        </p:spPr>
        <p:txBody>
          <a:bodyPr wrap="square" lIns="0" tIns="0" rIns="0" bIns="0" rtlCol="0" anchor="t"/>
          <a:lstStyle/>
          <a:p>
            <a:pPr indent="0" marL="0">
              <a:buNone/>
            </a:pPr>
            <a:r>
              <a:rPr lang="en-US" sz="1100" dirty="0">
                <a:solidFill>
                  <a:srgbClr val="B9C7D6"/>
                </a:solidFill>
              </a:rPr>
              <a:t>months</a:t>
            </a:r>
            <a:endParaRPr lang="en-US" sz="1100" dirty="0"/>
          </a:p>
        </p:txBody>
      </p:sp>
      <p:sp>
        <p:nvSpPr>
          <p:cNvPr id="38" name="Shape 36"/>
          <p:cNvSpPr/>
          <p:nvPr/>
        </p:nvSpPr>
        <p:spPr>
          <a:xfrm>
            <a:off x="9125712" y="1508760"/>
            <a:ext cx="2606040" cy="0"/>
          </a:xfrm>
          <a:prstGeom prst="line">
            <a:avLst/>
          </a:prstGeom>
          <a:noFill/>
          <a:ln w="12700">
            <a:solidFill>
              <a:srgbClr val="8A8886"/>
            </a:solidFill>
            <a:prstDash val="solid"/>
          </a:ln>
        </p:spPr>
      </p:sp>
      <p:sp>
        <p:nvSpPr>
          <p:cNvPr id="39" name="Text 37"/>
          <p:cNvSpPr txBox="1"/>
          <p:nvPr/>
        </p:nvSpPr>
        <p:spPr>
          <a:xfrm>
            <a:off x="9125712" y="1618488"/>
            <a:ext cx="365760" cy="274320"/>
          </a:xfrm>
          <a:prstGeom prst="rect">
            <a:avLst/>
          </a:prstGeom>
          <a:noFill/>
          <a:ln/>
        </p:spPr>
        <p:txBody>
          <a:bodyPr wrap="square" lIns="0" tIns="0" rIns="0" bIns="0" rtlCol="0" anchor="t"/>
          <a:lstStyle/>
          <a:p>
            <a:pPr indent="0" marL="0">
              <a:buNone/>
            </a:pPr>
            <a:r>
              <a:rPr lang="en-US" sz="1200" dirty="0">
                <a:solidFill>
                  <a:schemeClr val="accent1"/>
                </a:solidFill>
                <a:latin typeface="Segoe UI Semibold" pitchFamily="34" charset="0"/>
                <a:ea typeface="Segoe UI Semibold" pitchFamily="34" charset="-122"/>
                <a:cs typeface="Segoe UI Semibold" pitchFamily="34" charset="-120"/>
              </a:rPr>
              <a:t>04</a:t>
            </a:r>
            <a:endParaRPr lang="en-US" sz="1200" dirty="0"/>
          </a:p>
        </p:txBody>
      </p:sp>
      <p:sp>
        <p:nvSpPr>
          <p:cNvPr id="40" name="Text 38"/>
          <p:cNvSpPr txBox="1"/>
          <p:nvPr/>
        </p:nvSpPr>
        <p:spPr>
          <a:xfrm>
            <a:off x="9491472" y="1618488"/>
            <a:ext cx="2240280" cy="274320"/>
          </a:xfrm>
          <a:prstGeom prst="rect">
            <a:avLst/>
          </a:prstGeom>
          <a:noFill/>
          <a:ln/>
        </p:spPr>
        <p:txBody>
          <a:bodyPr wrap="square" lIns="0" tIns="0" rIns="0" bIns="0" rtlCol="0" anchor="t"/>
          <a:lstStyle/>
          <a:p>
            <a:pPr indent="0" marL="0">
              <a:buNone/>
            </a:pPr>
            <a:r>
              <a:rPr lang="en-US" sz="1300" dirty="0">
                <a:solidFill>
                  <a:schemeClr val="tx2"/>
                </a:solidFill>
                <a:latin typeface="Segoe UI Semibold" pitchFamily="34" charset="0"/>
                <a:ea typeface="Segoe UI Semibold" pitchFamily="34" charset="-122"/>
                <a:cs typeface="Segoe UI Semibold" pitchFamily="34" charset="-120"/>
              </a:rPr>
              <a:t>Gaps to level 5</a:t>
            </a:r>
            <a:endParaRPr lang="en-US" sz="1300" dirty="0"/>
          </a:p>
        </p:txBody>
      </p:sp>
      <p:sp>
        <p:nvSpPr>
          <p:cNvPr id="41" name="Text 39"/>
          <p:cNvSpPr txBox="1"/>
          <p:nvPr/>
        </p:nvSpPr>
        <p:spPr>
          <a:xfrm>
            <a:off x="9125712" y="2057400"/>
            <a:ext cx="2606040" cy="457200"/>
          </a:xfrm>
          <a:prstGeom prst="rect">
            <a:avLst/>
          </a:prstGeom>
          <a:noFill/>
          <a:ln/>
        </p:spPr>
        <p:txBody>
          <a:bodyPr wrap="square" lIns="0" tIns="0" rIns="0" bIns="0" rtlCol="0" anchor="t"/>
          <a:lstStyle/>
          <a:p>
            <a:pPr indent="0" marL="0">
              <a:buNone/>
            </a:pPr>
            <a:r>
              <a:rPr lang="en-US" sz="1200" dirty="0">
                <a:solidFill>
                  <a:schemeClr val="accent2"/>
                </a:solidFill>
                <a:latin typeface="Segoe UI Semibold" pitchFamily="34" charset="0"/>
                <a:ea typeface="Segoe UI Semibold" pitchFamily="34" charset="-122"/>
                <a:cs typeface="Segoe UI Semibold" pitchFamily="34" charset="-120"/>
              </a:rPr>
              <a:t>[N]</a:t>
            </a:r>
            <a:pPr indent="0" marL="0">
              <a:buNone/>
            </a:pPr>
            <a:r>
              <a:rPr lang="en-US" sz="1200" dirty="0">
                <a:solidFill>
                  <a:schemeClr val="accent5"/>
                </a:solidFill>
              </a:rPr>
              <a:t> level-5 controls still open in the latest report:</a:t>
            </a:r>
            <a:endParaRPr lang="en-US" sz="1200" dirty="0"/>
          </a:p>
        </p:txBody>
      </p:sp>
      <p:sp>
        <p:nvSpPr>
          <p:cNvPr id="42" name="Shape 40"/>
          <p:cNvSpPr/>
          <p:nvPr/>
        </p:nvSpPr>
        <p:spPr>
          <a:xfrm>
            <a:off x="9125712" y="2532888"/>
            <a:ext cx="2606040" cy="0"/>
          </a:xfrm>
          <a:prstGeom prst="line">
            <a:avLst/>
          </a:prstGeom>
          <a:noFill/>
          <a:ln w="9525">
            <a:solidFill>
              <a:srgbClr val="E1DFDD"/>
            </a:solidFill>
            <a:prstDash val="solid"/>
          </a:ln>
        </p:spPr>
      </p:sp>
      <p:sp>
        <p:nvSpPr>
          <p:cNvPr id="43" name="Text 41"/>
          <p:cNvSpPr txBox="1"/>
          <p:nvPr/>
        </p:nvSpPr>
        <p:spPr>
          <a:xfrm>
            <a:off x="9125712" y="2606040"/>
            <a:ext cx="2606040" cy="457200"/>
          </a:xfrm>
          <a:prstGeom prst="rect">
            <a:avLst/>
          </a:prstGeom>
          <a:noFill/>
          <a:ln/>
        </p:spPr>
        <p:txBody>
          <a:bodyPr wrap="square" lIns="0" tIns="0" rIns="0" bIns="0" rtlCol="0" anchor="t"/>
          <a:lstStyle/>
          <a:p>
            <a:pPr indent="0" marL="0">
              <a:buNone/>
            </a:pPr>
            <a:r>
              <a:rPr lang="en-US" sz="1200" dirty="0">
                <a:solidFill>
                  <a:schemeClr val="accent2"/>
                </a:solidFill>
              </a:rPr>
              <a:t>[Gap 1, e.g. full isolation of Tier 0 administration]</a:t>
            </a:r>
            <a:endParaRPr lang="en-US" sz="1200" dirty="0"/>
          </a:p>
        </p:txBody>
      </p:sp>
      <p:sp>
        <p:nvSpPr>
          <p:cNvPr id="44" name="Text 42"/>
          <p:cNvSpPr txBox="1"/>
          <p:nvPr/>
        </p:nvSpPr>
        <p:spPr>
          <a:xfrm>
            <a:off x="9125712" y="3081528"/>
            <a:ext cx="2606040" cy="256032"/>
          </a:xfrm>
          <a:prstGeom prst="rect">
            <a:avLst/>
          </a:prstGeom>
          <a:noFill/>
          <a:ln/>
        </p:spPr>
        <p:txBody>
          <a:bodyPr wrap="square" lIns="0" tIns="0" rIns="0" bIns="0" rtlCol="0" anchor="t"/>
          <a:lstStyle/>
          <a:p>
            <a:pPr indent="0" marL="0">
              <a:buNone/>
            </a:pPr>
            <a:r>
              <a:rPr lang="en-US" sz="1000" dirty="0">
                <a:solidFill>
                  <a:schemeClr val="accent5"/>
                </a:solidFill>
              </a:rPr>
              <a:t>Owner </a:t>
            </a:r>
            <a:pPr indent="0" marL="0">
              <a:buNone/>
            </a:pPr>
            <a:r>
              <a:rPr lang="en-US" sz="1000" dirty="0">
                <a:solidFill>
                  <a:schemeClr val="accent2"/>
                </a:solidFill>
              </a:rPr>
              <a:t>[Team]</a:t>
            </a:r>
            <a:pPr indent="0" marL="0">
              <a:buNone/>
            </a:pPr>
            <a:r>
              <a:rPr lang="en-US" sz="1000" dirty="0">
                <a:solidFill>
                  <a:schemeClr val="accent5"/>
                </a:solidFill>
              </a:rPr>
              <a:t>   Target </a:t>
            </a:r>
            <a:pPr indent="0" marL="0">
              <a:buNone/>
            </a:pPr>
            <a:r>
              <a:rPr lang="en-US" sz="1000" dirty="0">
                <a:solidFill>
                  <a:schemeClr val="accent2"/>
                </a:solidFill>
              </a:rPr>
              <a:t>[Qx YYYY]</a:t>
            </a:r>
            <a:endParaRPr lang="en-US" sz="1000" dirty="0"/>
          </a:p>
        </p:txBody>
      </p:sp>
      <p:sp>
        <p:nvSpPr>
          <p:cNvPr id="45" name="Shape 43"/>
          <p:cNvSpPr/>
          <p:nvPr/>
        </p:nvSpPr>
        <p:spPr>
          <a:xfrm>
            <a:off x="9125712" y="3401568"/>
            <a:ext cx="2606040" cy="0"/>
          </a:xfrm>
          <a:prstGeom prst="line">
            <a:avLst/>
          </a:prstGeom>
          <a:noFill/>
          <a:ln w="9525">
            <a:solidFill>
              <a:srgbClr val="E1DFDD"/>
            </a:solidFill>
            <a:prstDash val="solid"/>
          </a:ln>
        </p:spPr>
      </p:sp>
      <p:sp>
        <p:nvSpPr>
          <p:cNvPr id="46" name="Text 44"/>
          <p:cNvSpPr txBox="1"/>
          <p:nvPr/>
        </p:nvSpPr>
        <p:spPr>
          <a:xfrm>
            <a:off x="9125712" y="3474720"/>
            <a:ext cx="2606040" cy="457200"/>
          </a:xfrm>
          <a:prstGeom prst="rect">
            <a:avLst/>
          </a:prstGeom>
          <a:noFill/>
          <a:ln/>
        </p:spPr>
        <p:txBody>
          <a:bodyPr wrap="square" lIns="0" tIns="0" rIns="0" bIns="0" rtlCol="0" anchor="t"/>
          <a:lstStyle/>
          <a:p>
            <a:pPr indent="0" marL="0">
              <a:buNone/>
            </a:pPr>
            <a:r>
              <a:rPr lang="en-US" sz="1200" dirty="0">
                <a:solidFill>
                  <a:schemeClr val="accent2"/>
                </a:solidFill>
              </a:rPr>
              <a:t>[Gap 2, e.g. authentication silos for privileged accounts]</a:t>
            </a:r>
            <a:endParaRPr lang="en-US" sz="1200" dirty="0"/>
          </a:p>
        </p:txBody>
      </p:sp>
      <p:sp>
        <p:nvSpPr>
          <p:cNvPr id="47" name="Text 45"/>
          <p:cNvSpPr txBox="1"/>
          <p:nvPr/>
        </p:nvSpPr>
        <p:spPr>
          <a:xfrm>
            <a:off x="9125712" y="3950208"/>
            <a:ext cx="2606040" cy="256032"/>
          </a:xfrm>
          <a:prstGeom prst="rect">
            <a:avLst/>
          </a:prstGeom>
          <a:noFill/>
          <a:ln/>
        </p:spPr>
        <p:txBody>
          <a:bodyPr wrap="square" lIns="0" tIns="0" rIns="0" bIns="0" rtlCol="0" anchor="t"/>
          <a:lstStyle/>
          <a:p>
            <a:pPr indent="0" marL="0">
              <a:buNone/>
            </a:pPr>
            <a:r>
              <a:rPr lang="en-US" sz="1000" dirty="0">
                <a:solidFill>
                  <a:schemeClr val="accent5"/>
                </a:solidFill>
              </a:rPr>
              <a:t>Owner </a:t>
            </a:r>
            <a:pPr indent="0" marL="0">
              <a:buNone/>
            </a:pPr>
            <a:r>
              <a:rPr lang="en-US" sz="1000" dirty="0">
                <a:solidFill>
                  <a:schemeClr val="accent2"/>
                </a:solidFill>
              </a:rPr>
              <a:t>[Team]</a:t>
            </a:r>
            <a:pPr indent="0" marL="0">
              <a:buNone/>
            </a:pPr>
            <a:r>
              <a:rPr lang="en-US" sz="1000" dirty="0">
                <a:solidFill>
                  <a:schemeClr val="accent5"/>
                </a:solidFill>
              </a:rPr>
              <a:t>   Target </a:t>
            </a:r>
            <a:pPr indent="0" marL="0">
              <a:buNone/>
            </a:pPr>
            <a:r>
              <a:rPr lang="en-US" sz="1000" dirty="0">
                <a:solidFill>
                  <a:schemeClr val="accent2"/>
                </a:solidFill>
              </a:rPr>
              <a:t>[Qx YYYY]</a:t>
            </a:r>
            <a:endParaRPr lang="en-US" sz="1000" dirty="0"/>
          </a:p>
        </p:txBody>
      </p:sp>
      <p:sp>
        <p:nvSpPr>
          <p:cNvPr id="48" name="Shape 46"/>
          <p:cNvSpPr/>
          <p:nvPr/>
        </p:nvSpPr>
        <p:spPr>
          <a:xfrm>
            <a:off x="9125712" y="4270248"/>
            <a:ext cx="2606040" cy="0"/>
          </a:xfrm>
          <a:prstGeom prst="line">
            <a:avLst/>
          </a:prstGeom>
          <a:noFill/>
          <a:ln w="9525">
            <a:solidFill>
              <a:srgbClr val="E1DFDD"/>
            </a:solidFill>
            <a:prstDash val="solid"/>
          </a:ln>
        </p:spPr>
      </p:sp>
      <p:sp>
        <p:nvSpPr>
          <p:cNvPr id="49" name="Text 47"/>
          <p:cNvSpPr txBox="1"/>
          <p:nvPr/>
        </p:nvSpPr>
        <p:spPr>
          <a:xfrm>
            <a:off x="9125712" y="4343400"/>
            <a:ext cx="2606040" cy="457200"/>
          </a:xfrm>
          <a:prstGeom prst="rect">
            <a:avLst/>
          </a:prstGeom>
          <a:noFill/>
          <a:ln/>
        </p:spPr>
        <p:txBody>
          <a:bodyPr wrap="square" lIns="0" tIns="0" rIns="0" bIns="0" rtlCol="0" anchor="t"/>
          <a:lstStyle/>
          <a:p>
            <a:pPr indent="0" marL="0">
              <a:buNone/>
            </a:pPr>
            <a:r>
              <a:rPr lang="en-US" sz="1200" dirty="0">
                <a:solidFill>
                  <a:schemeClr val="accent2"/>
                </a:solidFill>
              </a:rPr>
              <a:t>[Gap 3, from the latest ADS report]</a:t>
            </a:r>
            <a:endParaRPr lang="en-US" sz="1200" dirty="0"/>
          </a:p>
        </p:txBody>
      </p:sp>
      <p:sp>
        <p:nvSpPr>
          <p:cNvPr id="50" name="Text 48"/>
          <p:cNvSpPr txBox="1"/>
          <p:nvPr/>
        </p:nvSpPr>
        <p:spPr>
          <a:xfrm>
            <a:off x="9125712" y="4818888"/>
            <a:ext cx="2606040" cy="256032"/>
          </a:xfrm>
          <a:prstGeom prst="rect">
            <a:avLst/>
          </a:prstGeom>
          <a:noFill/>
          <a:ln/>
        </p:spPr>
        <p:txBody>
          <a:bodyPr wrap="square" lIns="0" tIns="0" rIns="0" bIns="0" rtlCol="0" anchor="t"/>
          <a:lstStyle/>
          <a:p>
            <a:pPr indent="0" marL="0">
              <a:buNone/>
            </a:pPr>
            <a:r>
              <a:rPr lang="en-US" sz="1000" dirty="0">
                <a:solidFill>
                  <a:schemeClr val="accent5"/>
                </a:solidFill>
              </a:rPr>
              <a:t>Owner </a:t>
            </a:r>
            <a:pPr indent="0" marL="0">
              <a:buNone/>
            </a:pPr>
            <a:r>
              <a:rPr lang="en-US" sz="1000" dirty="0">
                <a:solidFill>
                  <a:schemeClr val="accent2"/>
                </a:solidFill>
              </a:rPr>
              <a:t>[Team]</a:t>
            </a:r>
            <a:pPr indent="0" marL="0">
              <a:buNone/>
            </a:pPr>
            <a:r>
              <a:rPr lang="en-US" sz="1000" dirty="0">
                <a:solidFill>
                  <a:schemeClr val="accent5"/>
                </a:solidFill>
              </a:rPr>
              <a:t>   Target </a:t>
            </a:r>
            <a:pPr indent="0" marL="0">
              <a:buNone/>
            </a:pPr>
            <a:r>
              <a:rPr lang="en-US" sz="1000" dirty="0">
                <a:solidFill>
                  <a:schemeClr val="accent2"/>
                </a:solidFill>
              </a:rPr>
              <a:t>[Qx YYYY]</a:t>
            </a:r>
            <a:endParaRPr lang="en-US" sz="1000" dirty="0"/>
          </a:p>
        </p:txBody>
      </p:sp>
      <p:sp>
        <p:nvSpPr>
          <p:cNvPr id="51" name="Board ask"/>
          <p:cNvSpPr/>
          <p:nvPr/>
        </p:nvSpPr>
        <p:spPr>
          <a:xfrm>
            <a:off x="457200" y="5669280"/>
            <a:ext cx="11274552" cy="530352"/>
          </a:xfrm>
          <a:prstGeom prst="rect">
            <a:avLst/>
          </a:prstGeom>
          <a:solidFill>
            <a:schemeClr val="bg2"/>
          </a:solidFill>
          <a:ln/>
        </p:spPr>
      </p:sp>
      <p:sp>
        <p:nvSpPr>
          <p:cNvPr id="52" name="Text 50"/>
          <p:cNvSpPr txBox="1"/>
          <p:nvPr/>
        </p:nvSpPr>
        <p:spPr>
          <a:xfrm>
            <a:off x="685800" y="5669280"/>
            <a:ext cx="10881360" cy="530352"/>
          </a:xfrm>
          <a:prstGeom prst="rect">
            <a:avLst/>
          </a:prstGeom>
          <a:noFill/>
          <a:ln/>
        </p:spPr>
        <p:txBody>
          <a:bodyPr wrap="square" lIns="0" tIns="0" rIns="0" bIns="0" rtlCol="0" anchor="ctr"/>
          <a:lstStyle/>
          <a:p>
            <a:pPr indent="0" marL="0">
              <a:buNone/>
            </a:pPr>
            <a:r>
              <a:rPr lang="en-US" sz="1300" dirty="0">
                <a:solidFill>
                  <a:schemeClr val="tx2"/>
                </a:solidFill>
                <a:latin typeface="Segoe UI Semibold" pitchFamily="34" charset="0"/>
                <a:ea typeface="Segoe UI Semibold" pitchFamily="34" charset="-122"/>
                <a:cs typeface="Segoe UI Semibold" pitchFamily="34" charset="-120"/>
              </a:rPr>
              <a:t>Decision requested   </a:t>
            </a:r>
            <a:pPr indent="0" marL="0">
              <a:buNone/>
            </a:pPr>
            <a:r>
              <a:rPr lang="en-US" sz="1300" dirty="0">
                <a:solidFill>
                  <a:schemeClr val="accent2"/>
                </a:solidFill>
              </a:rPr>
              <a:t>[Your ask, e.g. approve time and budget to close the level-5 gaps and keep regular scans]</a:t>
            </a:r>
            <a:endParaRPr lang="en-US" sz="1300" dirty="0"/>
          </a:p>
        </p:txBody>
      </p:sp>
      <p:sp>
        <p:nvSpPr>
          <p:cNvPr id="53" name="Text 51"/>
          <p:cNvSpPr txBox="1"/>
          <p:nvPr/>
        </p:nvSpPr>
        <p:spPr>
          <a:xfrm>
            <a:off x="457200" y="6419088"/>
            <a:ext cx="8229600" cy="228600"/>
          </a:xfrm>
          <a:prstGeom prst="rect">
            <a:avLst/>
          </a:prstGeom>
          <a:noFill/>
          <a:ln/>
        </p:spPr>
        <p:txBody>
          <a:bodyPr wrap="square" lIns="0" tIns="0" rIns="0" bIns="0" rtlCol="0" anchor="t"/>
          <a:lstStyle/>
          <a:p>
            <a:pPr indent="0" marL="0">
              <a:buNone/>
            </a:pPr>
            <a:r>
              <a:rPr lang="en-US" sz="900" dirty="0">
                <a:solidFill>
                  <a:schemeClr val="accent5"/>
                </a:solidFill>
              </a:rPr>
              <a:t>Source: ANSSI ADS assessment reports (ORADAD collection), first and latest scan.</a:t>
            </a:r>
            <a:endParaRPr lang="en-US" sz="900" dirty="0"/>
          </a:p>
        </p:txBody>
      </p:sp>
      <p:sp>
        <p:nvSpPr>
          <p:cNvPr id="25" name="Slide Number Placeholder 0"/>
          <p:cNvSpPr>
            <a:spLocks noGrp="1"/>
          </p:cNvSpPr>
          <p:nvPr>
            <p:ph type="sldNum" sz="quarter" idx="4294967295"/>
          </p:nvPr>
        </p:nvSpPr>
        <p:spPr>
          <a:xfrm>
            <a:off x="11365992" y="64008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05E5C"/>
                </a:solidFill>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Office Executive">
  <a:themeElements>
    <a:clrScheme name="Office Executive">
      <a:dk1>
        <a:srgbClr val="201F1E"/>
      </a:dk1>
      <a:lt1>
        <a:srgbClr val="FFFFFF"/>
      </a:lt1>
      <a:dk2>
        <a:srgbClr val="0B2A4A"/>
      </a:dk2>
      <a:lt2>
        <a:srgbClr val="F3F2F1"/>
      </a:lt2>
      <a:accent1>
        <a:srgbClr val="0078D4"/>
      </a:accent1>
      <a:accent2>
        <a:srgbClr val="D83B01"/>
      </a:accent2>
      <a:accent3>
        <a:srgbClr val="50E6FF"/>
      </a:accent3>
      <a:accent4>
        <a:srgbClr val="107C10"/>
      </a:accent4>
      <a:accent5>
        <a:srgbClr val="605E5C"/>
      </a:accent5>
      <a:accent6>
        <a:srgbClr val="8A8886"/>
      </a:accent6>
      <a:hlink>
        <a:srgbClr val="0078D4"/>
      </a:hlink>
      <a:folHlink>
        <a:srgbClr val="605E5C"/>
      </a:folHlink>
    </a:clrScheme>
    <a:fontScheme name="Office Executiv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ORADAD board briefing</dc:title>
  <dc:subject>Active Directory security</dc:subject>
  <dc:creator/>
  <cp:lastModifiedBy/>
  <cp:revision>1</cp:revision>
  <dcterms:created xsi:type="dcterms:W3CDTF">2026-10-13T17:13:18Z</dcterms:created>
  <dcterms:modified xsi:type="dcterms:W3CDTF">2026-10-13T17:13:18Z</dcterms:modified>
</cp:coreProperties>
</file>