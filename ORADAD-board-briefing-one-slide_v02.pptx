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xml.rels" ContentType="application/vnd.openxmlformats-package.relationships+xml"/>
  <Override PartName="/ppt/slides/slide1.xml" ContentType="application/vnd.openxmlformats-officedocument.presentationml.slide+xml"/>
  <Override PartName="/ppt/notesSlides/_rels/notesSlide1.xml.rels" ContentType="application/vnd.openxmlformats-package.relationships+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IE" sz="1800" spc="-1" strike="noStrike">
                <a:solidFill>
                  <a:schemeClr val="dk1"/>
                </a:solidFill>
                <a:latin typeface="Segoe UI"/>
              </a:rPr>
              <a:t>Click to move the slide</a:t>
            </a:r>
            <a:endParaRPr b="0" lang="en-IE" sz="1800" spc="-1" strike="noStrike">
              <a:solidFill>
                <a:schemeClr val="dk1"/>
              </a:solidFill>
              <a:latin typeface="Segoe UI"/>
            </a:endParaRPr>
          </a:p>
        </p:txBody>
      </p:sp>
      <p:sp>
        <p:nvSpPr>
          <p:cNvPr id="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E" sz="2000" spc="-1" strike="noStrike">
                <a:solidFill>
                  <a:srgbClr val="000000"/>
                </a:solidFill>
                <a:latin typeface="Arial"/>
              </a:rPr>
              <a:t>Click to edit the notes format</a:t>
            </a:r>
            <a:endParaRPr b="0" lang="en-IE" sz="2000" spc="-1" strike="noStrike">
              <a:solidFill>
                <a:srgbClr val="000000"/>
              </a:solidFill>
              <a:latin typeface="Arial"/>
            </a:endParaRPr>
          </a:p>
        </p:txBody>
      </p:sp>
      <p:sp>
        <p:nvSpPr>
          <p:cNvPr id="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E" sz="1400" spc="-1" strike="noStrike">
                <a:solidFill>
                  <a:srgbClr val="000000"/>
                </a:solidFill>
                <a:latin typeface="Times New Roman"/>
              </a:rPr>
              <a:t>&lt;header&gt;</a:t>
            </a:r>
            <a:endParaRPr b="0" lang="en-IE" sz="1400" spc="-1" strike="noStrike">
              <a:solidFill>
                <a:srgbClr val="000000"/>
              </a:solidFill>
              <a:latin typeface="Times New Roman"/>
            </a:endParaRPr>
          </a:p>
        </p:txBody>
      </p:sp>
      <p:sp>
        <p:nvSpPr>
          <p:cNvPr id="6" name="PlaceHolder 4"/>
          <p:cNvSpPr>
            <a:spLocks noGrp="1"/>
          </p:cNvSpPr>
          <p:nvPr>
            <p:ph type="dt" idx="2"/>
          </p:nvPr>
        </p:nvSpPr>
        <p:spPr>
          <a:xfrm>
            <a:off x="4278960" y="0"/>
            <a:ext cx="3280680" cy="534240"/>
          </a:xfrm>
          <a:prstGeom prst="rect">
            <a:avLst/>
          </a:prstGeom>
          <a:noFill/>
          <a:ln w="0">
            <a:noFill/>
          </a:ln>
        </p:spPr>
        <p:txBody>
          <a:bodyPr lIns="0" rIns="0" tIns="0" bIns="0" anchor="t">
            <a:noAutofit/>
          </a:bodyPr>
          <a:lstStyle>
            <a:lvl1pPr indent="0" algn="r">
              <a:buNone/>
              <a:defRPr b="0" lang="en-IE" sz="1400" spc="-1" strike="noStrike">
                <a:solidFill>
                  <a:srgbClr val="000000"/>
                </a:solidFill>
                <a:latin typeface="Times New Roman"/>
              </a:defRPr>
            </a:lvl1pPr>
          </a:lstStyle>
          <a:p>
            <a:pPr indent="0" algn="r">
              <a:buNone/>
            </a:pPr>
            <a:r>
              <a:rPr b="0" lang="en-IE" sz="1400" spc="-1" strike="noStrike">
                <a:solidFill>
                  <a:srgbClr val="000000"/>
                </a:solidFill>
                <a:latin typeface="Times New Roman"/>
              </a:rPr>
              <a:t>&lt;date/time&gt;</a:t>
            </a:r>
            <a:endParaRPr b="0" lang="en-IE" sz="1400" spc="-1" strike="noStrike">
              <a:solidFill>
                <a:srgbClr val="000000"/>
              </a:solidFill>
              <a:latin typeface="Times New Roman"/>
            </a:endParaRPr>
          </a:p>
        </p:txBody>
      </p:sp>
      <p:sp>
        <p:nvSpPr>
          <p:cNvPr id="7" name="PlaceHolder 5"/>
          <p:cNvSpPr>
            <a:spLocks noGrp="1"/>
          </p:cNvSpPr>
          <p:nvPr>
            <p:ph type="ftr" idx="3"/>
          </p:nvPr>
        </p:nvSpPr>
        <p:spPr>
          <a:xfrm>
            <a:off x="0" y="10157400"/>
            <a:ext cx="3280680" cy="534240"/>
          </a:xfrm>
          <a:prstGeom prst="rect">
            <a:avLst/>
          </a:prstGeom>
          <a:noFill/>
          <a:ln w="0">
            <a:noFill/>
          </a:ln>
        </p:spPr>
        <p:txBody>
          <a:bodyPr lIns="0" rIns="0" tIns="0" bIns="0" anchor="b">
            <a:noAutofit/>
          </a:bodyPr>
          <a:lstStyle>
            <a:lvl1pPr indent="0">
              <a:buNone/>
              <a:defRPr b="0" lang="en-IE" sz="1400" spc="-1" strike="noStrike">
                <a:solidFill>
                  <a:srgbClr val="000000"/>
                </a:solidFill>
                <a:latin typeface="Times New Roman"/>
              </a:defRPr>
            </a:lvl1pPr>
          </a:lstStyle>
          <a:p>
            <a:pPr indent="0">
              <a:buNone/>
            </a:pPr>
            <a:r>
              <a:rPr b="0" lang="en-IE" sz="1400" spc="-1" strike="noStrike">
                <a:solidFill>
                  <a:srgbClr val="000000"/>
                </a:solidFill>
                <a:latin typeface="Times New Roman"/>
              </a:rPr>
              <a:t>&lt;footer&gt;</a:t>
            </a:r>
            <a:endParaRPr b="0" lang="en-IE" sz="1400" spc="-1" strike="noStrike">
              <a:solidFill>
                <a:srgbClr val="000000"/>
              </a:solidFill>
              <a:latin typeface="Times New Roman"/>
            </a:endParaRPr>
          </a:p>
        </p:txBody>
      </p:sp>
      <p:sp>
        <p:nvSpPr>
          <p:cNvPr id="8" name="PlaceHolder 6"/>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IE" sz="1400" spc="-1" strike="noStrike">
                <a:solidFill>
                  <a:srgbClr val="000000"/>
                </a:solidFill>
                <a:latin typeface="Times New Roman"/>
              </a:defRPr>
            </a:lvl1pPr>
          </a:lstStyle>
          <a:p>
            <a:pPr indent="0" algn="r">
              <a:buNone/>
            </a:pPr>
            <a:fld id="{FFD79DAB-6E51-4FB2-BEA2-B155C78E55AC}" type="slidenum">
              <a:rPr b="0" lang="en-IE" sz="1400" spc="-1" strike="noStrike">
                <a:solidFill>
                  <a:srgbClr val="000000"/>
                </a:solidFill>
                <a:latin typeface="Times New Roman"/>
              </a:rPr>
              <a:t>&lt;number&gt;</a:t>
            </a:fld>
            <a:endParaRPr b="0" lang="en-I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685800" y="1143000"/>
            <a:ext cx="5486040" cy="3085920"/>
          </a:xfrm>
          <a:prstGeom prst="rect">
            <a:avLst/>
          </a:prstGeom>
          <a:ln w="0">
            <a:noFill/>
          </a:ln>
        </p:spPr>
      </p:sp>
      <p:sp>
        <p:nvSpPr>
          <p:cNvPr id="1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Let me start with the big picture. Across the eight areas we use to manage security, our posture is strong. Today's topic, Active Directory, is one technical system within one of those areas: identity and access.</a:t>
            </a:r>
            <a:endParaRPr b="0" lang="en-IE" sz="2000" spc="-1" strike="noStrike">
              <a:solidFill>
                <a:srgbClr val="000000"/>
              </a:solidFill>
              <a:latin typeface="Arial"/>
            </a:endParaRPr>
          </a:p>
          <a:p>
            <a:pPr marL="216000" indent="-216000">
              <a:buNone/>
            </a:pPr>
            <a:endParaRPr b="0" lang="en-IE" sz="2000" spc="-1" strike="noStrike">
              <a:solidFill>
                <a:srgbClr val="000000"/>
              </a:solidFill>
              <a:latin typeface="Arial"/>
            </a:endParaRPr>
          </a:p>
          <a:p>
            <a:pPr marL="216000" indent="-216000">
              <a:buNone/>
            </a:pPr>
            <a:r>
              <a:rPr b="0" lang="en-US" sz="2000" spc="-1" strike="noStrike">
                <a:solidFill>
                  <a:srgbClr val="000000"/>
                </a:solidFill>
                <a:latin typeface="Arial"/>
              </a:rPr>
              <a:t>ORADAD is ANSSI's check of that one system. Active Directory is the company's master key register: it decides who can log in and what they can open. ANSSI is France's national cybersecurity agency. We run the ORADAD tool on our network, ANSSI analyses the data and scores us from 1 to 5, and a level counts only when every check below it passes. We use it because as [our category] we are required to, because every login depends on this system, and because it gives us an independent score we can track.</a:t>
            </a:r>
            <a:endParaRPr b="0" lang="en-IE" sz="2000" spc="-1" strike="noStrike">
              <a:solidFill>
                <a:srgbClr val="000000"/>
              </a:solidFill>
              <a:latin typeface="Arial"/>
            </a:endParaRPr>
          </a:p>
          <a:p>
            <a:pPr marL="216000" indent="-216000">
              <a:buNone/>
            </a:pPr>
            <a:endParaRPr b="0" lang="en-IE" sz="2000" spc="-1" strike="noStrike">
              <a:solidFill>
                <a:srgbClr val="000000"/>
              </a:solidFill>
              <a:latin typeface="Arial"/>
            </a:endParaRPr>
          </a:p>
          <a:p>
            <a:pPr marL="216000" indent="-216000">
              <a:buNone/>
            </a:pPr>
            <a:r>
              <a:rPr b="0" lang="en-US" sz="2000" spc="-1" strike="noStrike">
                <a:solidFill>
                  <a:srgbClr val="000000"/>
                </a:solidFill>
                <a:latin typeface="Arial"/>
              </a:rPr>
              <a:t>Our first scan, in [month year], placed us at level 1. Our latest, in [month year], places us at level 4 of 5. That took [N] fixed findings, a team of [N] people and [N] months alongside day-to-day operations.</a:t>
            </a:r>
            <a:endParaRPr b="0" lang="en-IE" sz="2000" spc="-1" strike="noStrike">
              <a:solidFill>
                <a:srgbClr val="000000"/>
              </a:solidFill>
              <a:latin typeface="Arial"/>
            </a:endParaRPr>
          </a:p>
          <a:p>
            <a:pPr marL="216000" indent="-216000">
              <a:buNone/>
            </a:pPr>
            <a:endParaRPr b="0" lang="en-IE" sz="2000" spc="-1" strike="noStrike">
              <a:solidFill>
                <a:srgbClr val="000000"/>
              </a:solidFill>
              <a:latin typeface="Arial"/>
            </a:endParaRPr>
          </a:p>
          <a:p>
            <a:pPr marL="216000" indent="-216000">
              <a:buNone/>
            </a:pPr>
            <a:r>
              <a:rPr b="0" lang="en-US" sz="2000" spc="-1" strike="noStrike">
                <a:solidFill>
                  <a:srgbClr val="000000"/>
                </a:solidFill>
                <a:latin typeface="Arial"/>
              </a:rPr>
              <a:t>To reach level 5, [N] controls remain open: [gap 1], [gap 2] and [gap 3], each with an owner and a target date. The decision I am asking of the board is [your ask].</a:t>
            </a:r>
            <a:endParaRPr b="0" lang="en-IE" sz="2000" spc="-1" strike="noStrike">
              <a:solidFill>
                <a:srgbClr val="000000"/>
              </a:solidFill>
              <a:latin typeface="Arial"/>
            </a:endParaRPr>
          </a:p>
          <a:p>
            <a:pPr marL="216000" indent="-216000">
              <a:buNone/>
            </a:pPr>
            <a:endParaRPr b="0" lang="en-IE" sz="2000" spc="-1" strike="noStrike">
              <a:solidFill>
                <a:srgbClr val="000000"/>
              </a:solidFill>
              <a:latin typeface="Arial"/>
            </a:endParaRPr>
          </a:p>
          <a:p>
            <a:pPr marL="216000" indent="-216000">
              <a:buNone/>
            </a:pPr>
            <a:r>
              <a:rPr b="0" lang="en-US" sz="2000" spc="-1" strike="noStrike">
                <a:solidFill>
                  <a:srgbClr val="000000"/>
                </a:solidFill>
                <a:latin typeface="Arial"/>
              </a:rPr>
              <a:t>BACKUP, ONLY IF ASKED: "If we are strong everywhere else, how were we at level 1 in identity, and for how long?"</a:t>
            </a:r>
            <a:endParaRPr b="0" lang="en-IE" sz="2000" spc="-1" strike="noStrike">
              <a:solidFill>
                <a:srgbClr val="000000"/>
              </a:solidFill>
              <a:latin typeface="Arial"/>
            </a:endParaRPr>
          </a:p>
          <a:p>
            <a:pPr marL="216000" indent="-216000">
              <a:buNone/>
            </a:pPr>
            <a:r>
              <a:rPr b="0" lang="en-US" sz="2000" spc="-1" strike="noStrike">
                <a:solidFill>
                  <a:srgbClr val="000000"/>
                </a:solidFill>
                <a:latin typeface="Arial"/>
              </a:rPr>
              <a:t>- Level 1 was a score for one system, not for identity and access as a whole. Sign-in protection (MFA, phishing-resistant methods) and monitoring were in place and strong throughout, and they are what stop most real attacks on accounts.</a:t>
            </a:r>
            <a:endParaRPr b="0" lang="en-IE" sz="2000" spc="-1" strike="noStrike">
              <a:solidFill>
                <a:srgbClr val="000000"/>
              </a:solidFill>
              <a:latin typeface="Arial"/>
            </a:endParaRPr>
          </a:p>
          <a:p>
            <a:pPr marL="216000" indent="-216000">
              <a:buNone/>
            </a:pPr>
            <a:r>
              <a:rPr b="0" lang="en-US" sz="2000" spc="-1" strike="noStrike">
                <a:solidFill>
                  <a:srgbClr val="000000"/>
                </a:solidFill>
                <a:latin typeface="Arial"/>
              </a:rPr>
              <a:t>- ORADAD scoring is strict: a single unmet check holds the whole score at the lower level, however good everything else is. A low first score is a starting measurement, not a sign of a breach.</a:t>
            </a:r>
            <a:endParaRPr b="0" lang="en-IE" sz="2000" spc="-1" strike="noStrike">
              <a:solidFill>
                <a:srgbClr val="000000"/>
              </a:solidFill>
              <a:latin typeface="Arial"/>
            </a:endParaRPr>
          </a:p>
          <a:p>
            <a:pPr marL="216000" indent="-216000">
              <a:buNone/>
            </a:pPr>
            <a:r>
              <a:rPr b="0" lang="en-US" sz="2000" spc="-1" strike="noStrike">
                <a:solidFill>
                  <a:srgbClr val="000000"/>
                </a:solidFill>
                <a:latin typeface="Arial"/>
              </a:rPr>
              <a:t>- The gaps were legacy settings built up over many years of Active Directory history. They were not visible until we measured them with this tool [from Month Year].</a:t>
            </a:r>
            <a:endParaRPr b="0" lang="en-IE"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Once we had the measurement, we acted: [N] findings fixed in [N] months, from level 1 to level 4.</a:t>
            </a:r>
            <a:endParaRPr b="0" lang="en-IE" sz="2000" spc="-1" strike="noStrike">
              <a:solidFill>
                <a:srgbClr val="000000"/>
              </a:solidFill>
              <a:latin typeface="Arial"/>
            </a:endParaRPr>
          </a:p>
        </p:txBody>
      </p:sp>
      <p:sp>
        <p:nvSpPr>
          <p:cNvPr id="105"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F7EB864-0007-4FA0-8277-45D02DEA7B35}" type="slidenum">
              <a:rPr b="0" lang="en-US" sz="1200" spc="-1" strike="noStrike">
                <a:solidFill>
                  <a:schemeClr val="dk1"/>
                </a:solidFill>
                <a:latin typeface="+mn-lt"/>
                <a:ea typeface="+mn-ea"/>
              </a:rPr>
              <a:t>&lt;number&gt;</a:t>
            </a:fld>
            <a:endParaRPr b="0" lang="en-IE"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B2F7B1FF-734C-475A-AA0B-1C160F195BBD}"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sldNum" idx="1"/>
          </p:nvPr>
        </p:nvSpPr>
        <p:spPr>
          <a:xfrm>
            <a:off x="11365920" y="6400800"/>
            <a:ext cx="365400" cy="22824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05e5c"/>
                </a:solidFill>
                <a:latin typeface="Segoe UI"/>
              </a:defRPr>
            </a:lvl1pPr>
          </a:lstStyle>
          <a:p>
            <a:pPr indent="0" algn="r" defTabSz="914400">
              <a:lnSpc>
                <a:spcPct val="100000"/>
              </a:lnSpc>
              <a:buNone/>
            </a:pPr>
            <a:fld id="{CDBBF1EC-93AC-4FDB-B67C-54110C25D609}" type="slidenum">
              <a:rPr b="0" lang="en-US" sz="900" spc="-1" strike="noStrike">
                <a:solidFill>
                  <a:srgbClr val="605e5c"/>
                </a:solidFill>
                <a:latin typeface="Segoe UI"/>
              </a:rPr>
              <a:t>&lt;number&gt;</a:t>
            </a:fld>
            <a:endParaRPr b="0" lang="en-IE" sz="900" spc="-1" strike="noStrike">
              <a:solidFill>
                <a:srgbClr val="000000"/>
              </a:solidFill>
              <a:latin typeface="Times New Roman"/>
            </a:endParaRPr>
          </a:p>
        </p:txBody>
      </p:sp>
      <p:sp>
        <p:nvSpPr>
          <p:cNvPr id="1"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IE" sz="1800" spc="-1" strike="noStrike">
                <a:solidFill>
                  <a:schemeClr val="dk1"/>
                </a:solidFill>
                <a:latin typeface="Segoe UI"/>
              </a:rPr>
              <a:t>Click to edit the title text format</a:t>
            </a:r>
            <a:endParaRPr b="0" lang="en-IE" sz="1800" spc="-1" strike="noStrike">
              <a:solidFill>
                <a:schemeClr val="dk1"/>
              </a:solidFill>
              <a:latin typeface="Segoe UI"/>
            </a:endParaRPr>
          </a:p>
        </p:txBody>
      </p:sp>
      <p:sp>
        <p:nvSpPr>
          <p:cNvPr id="2"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E" sz="3200" spc="-1" strike="noStrike">
                <a:solidFill>
                  <a:schemeClr val="dk1"/>
                </a:solidFill>
                <a:latin typeface="Segoe UI"/>
              </a:rPr>
              <a:t>Click to edit the outline text format</a:t>
            </a:r>
            <a:endParaRPr b="0" lang="en-IE" sz="3200" spc="-1" strike="noStrike">
              <a:solidFill>
                <a:schemeClr val="dk1"/>
              </a:solidFill>
              <a:latin typeface="Segoe UI"/>
            </a:endParaRPr>
          </a:p>
          <a:p>
            <a:pPr lvl="1" marL="864000" indent="-324000">
              <a:spcBef>
                <a:spcPts val="1134"/>
              </a:spcBef>
              <a:buClr>
                <a:srgbClr val="000000"/>
              </a:buClr>
              <a:buSzPct val="75000"/>
              <a:buFont typeface="Symbol" charset="2"/>
              <a:buChar char=""/>
            </a:pPr>
            <a:r>
              <a:rPr b="0" lang="en-IE" sz="2400" spc="-1" strike="noStrike">
                <a:solidFill>
                  <a:schemeClr val="dk1"/>
                </a:solidFill>
                <a:latin typeface="Segoe UI"/>
              </a:rPr>
              <a:t>Second Outline Level</a:t>
            </a:r>
            <a:endParaRPr b="0" lang="en-IE" sz="2400" spc="-1" strike="noStrike">
              <a:solidFill>
                <a:schemeClr val="dk1"/>
              </a:solidFill>
              <a:latin typeface="Segoe UI"/>
            </a:endParaRPr>
          </a:p>
          <a:p>
            <a:pPr lvl="2" marL="1296000" indent="-288000">
              <a:spcBef>
                <a:spcPts val="850"/>
              </a:spcBef>
              <a:buClr>
                <a:srgbClr val="000000"/>
              </a:buClr>
              <a:buSzPct val="45000"/>
              <a:buFont typeface="Wingdings" charset="2"/>
              <a:buChar char=""/>
            </a:pPr>
            <a:r>
              <a:rPr b="0" lang="en-IE" sz="2000" spc="-1" strike="noStrike">
                <a:solidFill>
                  <a:schemeClr val="dk1"/>
                </a:solidFill>
                <a:latin typeface="Segoe UI"/>
              </a:rPr>
              <a:t>Third Outline Level</a:t>
            </a:r>
            <a:endParaRPr b="0" lang="en-IE" sz="2000" spc="-1" strike="noStrike">
              <a:solidFill>
                <a:schemeClr val="dk1"/>
              </a:solidFill>
              <a:latin typeface="Segoe UI"/>
            </a:endParaRPr>
          </a:p>
          <a:p>
            <a:pPr lvl="3" marL="1728000" indent="-216000">
              <a:spcBef>
                <a:spcPts val="567"/>
              </a:spcBef>
              <a:buClr>
                <a:srgbClr val="000000"/>
              </a:buClr>
              <a:buSzPct val="75000"/>
              <a:buFont typeface="Symbol" charset="2"/>
              <a:buChar char=""/>
            </a:pPr>
            <a:r>
              <a:rPr b="0" lang="en-IE" sz="2000" spc="-1" strike="noStrike">
                <a:solidFill>
                  <a:schemeClr val="dk1"/>
                </a:solidFill>
                <a:latin typeface="Segoe UI"/>
              </a:rPr>
              <a:t>Fourth Outline Level</a:t>
            </a:r>
            <a:endParaRPr b="0" lang="en-IE" sz="2000" spc="-1" strike="noStrike">
              <a:solidFill>
                <a:schemeClr val="dk1"/>
              </a:solidFill>
              <a:latin typeface="Segoe UI"/>
            </a:endParaRPr>
          </a:p>
          <a:p>
            <a:pPr lvl="4" marL="2160000" indent="-216000">
              <a:spcBef>
                <a:spcPts val="283"/>
              </a:spcBef>
              <a:buClr>
                <a:srgbClr val="000000"/>
              </a:buClr>
              <a:buSzPct val="45000"/>
              <a:buFont typeface="Wingdings" charset="2"/>
              <a:buChar char=""/>
            </a:pPr>
            <a:r>
              <a:rPr b="0" lang="en-IE" sz="2000" spc="-1" strike="noStrike">
                <a:solidFill>
                  <a:schemeClr val="dk1"/>
                </a:solidFill>
                <a:latin typeface="Segoe UI"/>
              </a:rPr>
              <a:t>Fifth Outline Level</a:t>
            </a:r>
            <a:endParaRPr b="0" lang="en-IE" sz="2000" spc="-1" strike="noStrike">
              <a:solidFill>
                <a:schemeClr val="dk1"/>
              </a:solidFill>
              <a:latin typeface="Segoe UI"/>
            </a:endParaRPr>
          </a:p>
          <a:p>
            <a:pPr lvl="5" marL="2592000" indent="-216000">
              <a:spcBef>
                <a:spcPts val="283"/>
              </a:spcBef>
              <a:buClr>
                <a:srgbClr val="000000"/>
              </a:buClr>
              <a:buSzPct val="45000"/>
              <a:buFont typeface="Wingdings" charset="2"/>
              <a:buChar char=""/>
            </a:pPr>
            <a:r>
              <a:rPr b="0" lang="en-IE" sz="2000" spc="-1" strike="noStrike">
                <a:solidFill>
                  <a:schemeClr val="dk1"/>
                </a:solidFill>
                <a:latin typeface="Segoe UI"/>
              </a:rPr>
              <a:t>Sixth Outline Level</a:t>
            </a:r>
            <a:endParaRPr b="0" lang="en-IE" sz="2000" spc="-1" strike="noStrike">
              <a:solidFill>
                <a:schemeClr val="dk1"/>
              </a:solidFill>
              <a:latin typeface="Segoe UI"/>
            </a:endParaRPr>
          </a:p>
          <a:p>
            <a:pPr lvl="6" marL="3024000" indent="-216000">
              <a:spcBef>
                <a:spcPts val="283"/>
              </a:spcBef>
              <a:buClr>
                <a:srgbClr val="000000"/>
              </a:buClr>
              <a:buSzPct val="45000"/>
              <a:buFont typeface="Wingdings" charset="2"/>
              <a:buChar char=""/>
            </a:pPr>
            <a:r>
              <a:rPr b="0" lang="en-IE" sz="2000" spc="-1" strike="noStrike">
                <a:solidFill>
                  <a:schemeClr val="dk1"/>
                </a:solidFill>
                <a:latin typeface="Segoe UI"/>
              </a:rPr>
              <a:t>Seventh Outline Level</a:t>
            </a:r>
            <a:endParaRPr b="0" lang="en-IE" sz="2000" spc="-1" strike="noStrike">
              <a:solidFill>
                <a:schemeClr val="dk1"/>
              </a:solidFill>
              <a:latin typeface="Segoe U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Text 0"/>
          <p:cNvSpPr/>
          <p:nvPr/>
        </p:nvSpPr>
        <p:spPr>
          <a:xfrm>
            <a:off x="457200" y="365760"/>
            <a:ext cx="1127412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2400" spc="-1" strike="noStrike">
                <a:solidFill>
                  <a:schemeClr val="dk2"/>
                </a:solidFill>
                <a:latin typeface="Segoe UI Semibold"/>
                <a:ea typeface="Segoe UI Semibold"/>
              </a:rPr>
              <a:t>Strong security across all domains; Active Directory at level 4 of 5</a:t>
            </a:r>
            <a:endParaRPr b="0" lang="en-IE" sz="2400" spc="-1" strike="noStrike">
              <a:solidFill>
                <a:srgbClr val="000000"/>
              </a:solidFill>
              <a:latin typeface="Arial"/>
            </a:endParaRPr>
          </a:p>
        </p:txBody>
      </p:sp>
      <p:sp>
        <p:nvSpPr>
          <p:cNvPr id="10" name="Text 1"/>
          <p:cNvSpPr/>
          <p:nvPr/>
        </p:nvSpPr>
        <p:spPr>
          <a:xfrm>
            <a:off x="457200" y="868680"/>
            <a:ext cx="1127412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chemeClr val="accent5"/>
                </a:solidFill>
                <a:latin typeface="Segoe UI"/>
              </a:rPr>
              <a:t>Board briefing  |  Active Directory is one part of our security; ORADAD gives it an independent, state-authority score</a:t>
            </a:r>
            <a:endParaRPr b="0" lang="en-IE" sz="1300" spc="-1" strike="noStrike">
              <a:solidFill>
                <a:srgbClr val="000000"/>
              </a:solidFill>
              <a:latin typeface="Arial"/>
            </a:endParaRPr>
          </a:p>
        </p:txBody>
      </p:sp>
      <p:sp>
        <p:nvSpPr>
          <p:cNvPr id="11" name="Text 2"/>
          <p:cNvSpPr/>
          <p:nvPr/>
        </p:nvSpPr>
        <p:spPr>
          <a:xfrm>
            <a:off x="457200" y="1325880"/>
            <a:ext cx="457164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dk2"/>
                </a:solidFill>
                <a:latin typeface="Segoe UI Semibold"/>
                <a:ea typeface="Segoe UI Semibold"/>
              </a:rPr>
              <a:t>Overall security posture by domain</a:t>
            </a:r>
            <a:endParaRPr b="0" lang="en-IE" sz="1200" spc="-1" strike="noStrike">
              <a:solidFill>
                <a:srgbClr val="000000"/>
              </a:solidFill>
              <a:latin typeface="Arial"/>
            </a:endParaRPr>
          </a:p>
        </p:txBody>
      </p:sp>
      <p:sp>
        <p:nvSpPr>
          <p:cNvPr id="12" name="Shape 3"/>
          <p:cNvSpPr/>
          <p:nvPr/>
        </p:nvSpPr>
        <p:spPr>
          <a:xfrm>
            <a:off x="7498080" y="1398960"/>
            <a:ext cx="100080" cy="100080"/>
          </a:xfrm>
          <a:prstGeom prst="ellipse">
            <a:avLst/>
          </a:prstGeom>
          <a:solidFill>
            <a:srgbClr val="107c10"/>
          </a:solidFill>
          <a:ln w="0">
            <a:noFill/>
          </a:ln>
        </p:spPr>
        <p:style>
          <a:lnRef idx="0"/>
          <a:fillRef idx="0"/>
          <a:effectRef idx="0"/>
          <a:fontRef idx="minor"/>
        </p:style>
        <p:txBody>
          <a:bodyPr lIns="90000" rIns="90000" tIns="26280" bIns="26280" anchor="t">
            <a:noAutofit/>
          </a:bodyPr>
          <a:p>
            <a:endParaRPr b="0" lang="en-IE" sz="1800" spc="-1" strike="noStrike">
              <a:solidFill>
                <a:srgbClr val="ffffff"/>
              </a:solidFill>
              <a:latin typeface="Arial"/>
            </a:endParaRPr>
          </a:p>
        </p:txBody>
      </p:sp>
      <p:sp>
        <p:nvSpPr>
          <p:cNvPr id="13" name="Text 4"/>
          <p:cNvSpPr/>
          <p:nvPr/>
        </p:nvSpPr>
        <p:spPr>
          <a:xfrm>
            <a:off x="7653600" y="1344240"/>
            <a:ext cx="118836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accent5"/>
                </a:solidFill>
                <a:latin typeface="Segoe UI"/>
              </a:rPr>
              <a:t>Strong</a:t>
            </a:r>
            <a:endParaRPr b="0" lang="en-IE" sz="1000" spc="-1" strike="noStrike">
              <a:solidFill>
                <a:srgbClr val="000000"/>
              </a:solidFill>
              <a:latin typeface="Arial"/>
            </a:endParaRPr>
          </a:p>
        </p:txBody>
      </p:sp>
      <p:sp>
        <p:nvSpPr>
          <p:cNvPr id="14" name="Shape 5"/>
          <p:cNvSpPr/>
          <p:nvPr/>
        </p:nvSpPr>
        <p:spPr>
          <a:xfrm>
            <a:off x="8412480" y="1398960"/>
            <a:ext cx="100080" cy="100080"/>
          </a:xfrm>
          <a:prstGeom prst="ellipse">
            <a:avLst/>
          </a:prstGeom>
          <a:solidFill>
            <a:srgbClr val="c19c00"/>
          </a:solidFill>
          <a:ln w="0">
            <a:noFill/>
          </a:ln>
        </p:spPr>
        <p:style>
          <a:lnRef idx="0"/>
          <a:fillRef idx="0"/>
          <a:effectRef idx="0"/>
          <a:fontRef idx="minor"/>
        </p:style>
        <p:txBody>
          <a:bodyPr lIns="90000" rIns="90000" tIns="26280" bIns="26280" anchor="t">
            <a:noAutofit/>
          </a:bodyPr>
          <a:p>
            <a:endParaRPr b="0" lang="en-IE" sz="1800" spc="-1" strike="noStrike">
              <a:solidFill>
                <a:srgbClr val="ffffff"/>
              </a:solidFill>
              <a:latin typeface="Arial"/>
            </a:endParaRPr>
          </a:p>
        </p:txBody>
      </p:sp>
      <p:sp>
        <p:nvSpPr>
          <p:cNvPr id="15" name="Text 6"/>
          <p:cNvSpPr/>
          <p:nvPr/>
        </p:nvSpPr>
        <p:spPr>
          <a:xfrm>
            <a:off x="8568000" y="1344240"/>
            <a:ext cx="118836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accent5"/>
                </a:solidFill>
                <a:latin typeface="Segoe UI"/>
              </a:rPr>
              <a:t>Adequate</a:t>
            </a:r>
            <a:endParaRPr b="0" lang="en-IE" sz="1000" spc="-1" strike="noStrike">
              <a:solidFill>
                <a:srgbClr val="000000"/>
              </a:solidFill>
              <a:latin typeface="Arial"/>
            </a:endParaRPr>
          </a:p>
        </p:txBody>
      </p:sp>
      <p:sp>
        <p:nvSpPr>
          <p:cNvPr id="16" name="Shape 7"/>
          <p:cNvSpPr/>
          <p:nvPr/>
        </p:nvSpPr>
        <p:spPr>
          <a:xfrm>
            <a:off x="9464040" y="1398960"/>
            <a:ext cx="100080" cy="100080"/>
          </a:xfrm>
          <a:prstGeom prst="ellipse">
            <a:avLst/>
          </a:prstGeom>
          <a:solidFill>
            <a:srgbClr val="d13438"/>
          </a:solidFill>
          <a:ln w="0">
            <a:noFill/>
          </a:ln>
        </p:spPr>
        <p:style>
          <a:lnRef idx="0"/>
          <a:fillRef idx="0"/>
          <a:effectRef idx="0"/>
          <a:fontRef idx="minor"/>
        </p:style>
        <p:txBody>
          <a:bodyPr lIns="90000" rIns="90000" tIns="26280" bIns="26280" anchor="t">
            <a:noAutofit/>
          </a:bodyPr>
          <a:p>
            <a:endParaRPr b="0" lang="en-IE" sz="1800" spc="-1" strike="noStrike">
              <a:solidFill>
                <a:srgbClr val="ffffff"/>
              </a:solidFill>
              <a:latin typeface="Arial"/>
            </a:endParaRPr>
          </a:p>
        </p:txBody>
      </p:sp>
      <p:sp>
        <p:nvSpPr>
          <p:cNvPr id="17" name="Text 8"/>
          <p:cNvSpPr/>
          <p:nvPr/>
        </p:nvSpPr>
        <p:spPr>
          <a:xfrm>
            <a:off x="9619560" y="1344240"/>
            <a:ext cx="118836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accent5"/>
                </a:solidFill>
                <a:latin typeface="Segoe UI"/>
              </a:rPr>
              <a:t>Needs attention</a:t>
            </a:r>
            <a:endParaRPr b="0" lang="en-IE" sz="1000" spc="-1" strike="noStrike">
              <a:solidFill>
                <a:srgbClr val="000000"/>
              </a:solidFill>
              <a:latin typeface="Arial"/>
            </a:endParaRPr>
          </a:p>
        </p:txBody>
      </p:sp>
      <p:sp>
        <p:nvSpPr>
          <p:cNvPr id="18" name="Domain Governance and people"/>
          <p:cNvSpPr/>
          <p:nvPr/>
        </p:nvSpPr>
        <p:spPr>
          <a:xfrm>
            <a:off x="457200" y="1645920"/>
            <a:ext cx="1329120" cy="658080"/>
          </a:xfrm>
          <a:prstGeom prst="rect">
            <a:avLst/>
          </a:prstGeom>
          <a:solidFill>
            <a:schemeClr val="bg2"/>
          </a:solidFill>
          <a:ln w="0">
            <a:noFill/>
          </a:ln>
        </p:spPr>
        <p:style>
          <a:lnRef idx="0"/>
          <a:fillRef idx="0"/>
          <a:effectRef idx="0"/>
          <a:fontRef idx="minor"/>
        </p:style>
        <p:txBody>
          <a:bodyPr lIns="90000" rIns="90000" tIns="45000" bIns="45000" anchor="t">
            <a:noAutofit/>
          </a:bodyPr>
          <a:p>
            <a:endParaRPr b="0" lang="en-IE" sz="1800" spc="-1" strike="noStrike">
              <a:solidFill>
                <a:srgbClr val="000000"/>
              </a:solidFill>
              <a:latin typeface="Arial"/>
            </a:endParaRPr>
          </a:p>
        </p:txBody>
      </p:sp>
      <p:sp>
        <p:nvSpPr>
          <p:cNvPr id="19" name="Text 10"/>
          <p:cNvSpPr/>
          <p:nvPr/>
        </p:nvSpPr>
        <p:spPr>
          <a:xfrm>
            <a:off x="548640" y="1710000"/>
            <a:ext cx="11462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dk2"/>
                </a:solidFill>
                <a:latin typeface="Segoe UI Semibold"/>
                <a:ea typeface="Segoe UI Semibold"/>
              </a:rPr>
              <a:t>Governance and people</a:t>
            </a:r>
            <a:endParaRPr b="0" lang="en-IE" sz="1000" spc="-1" strike="noStrike">
              <a:solidFill>
                <a:srgbClr val="000000"/>
              </a:solidFill>
              <a:latin typeface="Arial"/>
            </a:endParaRPr>
          </a:p>
        </p:txBody>
      </p:sp>
      <p:sp>
        <p:nvSpPr>
          <p:cNvPr id="20" name="Shape 11"/>
          <p:cNvSpPr/>
          <p:nvPr/>
        </p:nvSpPr>
        <p:spPr>
          <a:xfrm>
            <a:off x="548640" y="2130480"/>
            <a:ext cx="91080" cy="91080"/>
          </a:xfrm>
          <a:prstGeom prst="ellipse">
            <a:avLst/>
          </a:prstGeom>
          <a:solidFill>
            <a:srgbClr val="107c10"/>
          </a:solidFill>
          <a:ln w="9525">
            <a:noFill/>
          </a:ln>
        </p:spPr>
        <p:style>
          <a:lnRef idx="0"/>
          <a:fillRef idx="0"/>
          <a:effectRef idx="0"/>
          <a:fontRef idx="minor"/>
        </p:style>
        <p:txBody>
          <a:bodyPr lIns="90000" rIns="90000" tIns="19440" bIns="19440" anchor="t">
            <a:noAutofit/>
          </a:bodyPr>
          <a:p>
            <a:endParaRPr b="0" lang="en-IE" sz="1800" spc="-1" strike="noStrike">
              <a:solidFill>
                <a:srgbClr val="ffffff"/>
              </a:solidFill>
              <a:latin typeface="Arial"/>
            </a:endParaRPr>
          </a:p>
        </p:txBody>
      </p:sp>
      <p:sp>
        <p:nvSpPr>
          <p:cNvPr id="21" name="Text 12"/>
          <p:cNvSpPr/>
          <p:nvPr/>
        </p:nvSpPr>
        <p:spPr>
          <a:xfrm>
            <a:off x="694800" y="2075760"/>
            <a:ext cx="105480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chemeClr val="accent5"/>
                </a:solidFill>
                <a:latin typeface="Segoe UI"/>
              </a:rPr>
              <a:t>Strong</a:t>
            </a:r>
            <a:endParaRPr b="0" lang="en-IE" sz="900" spc="-1" strike="noStrike">
              <a:solidFill>
                <a:srgbClr val="000000"/>
              </a:solidFill>
              <a:latin typeface="Arial"/>
            </a:endParaRPr>
          </a:p>
        </p:txBody>
      </p:sp>
      <p:sp>
        <p:nvSpPr>
          <p:cNvPr id="22" name="Domain Suppliers and third parties"/>
          <p:cNvSpPr/>
          <p:nvPr/>
        </p:nvSpPr>
        <p:spPr>
          <a:xfrm>
            <a:off x="1878120" y="1645920"/>
            <a:ext cx="1329120" cy="658080"/>
          </a:xfrm>
          <a:prstGeom prst="rect">
            <a:avLst/>
          </a:prstGeom>
          <a:solidFill>
            <a:schemeClr val="bg2"/>
          </a:solidFill>
          <a:ln w="0">
            <a:noFill/>
          </a:ln>
        </p:spPr>
        <p:style>
          <a:lnRef idx="0"/>
          <a:fillRef idx="0"/>
          <a:effectRef idx="0"/>
          <a:fontRef idx="minor"/>
        </p:style>
        <p:txBody>
          <a:bodyPr lIns="90000" rIns="90000" tIns="45000" bIns="45000" anchor="t">
            <a:noAutofit/>
          </a:bodyPr>
          <a:p>
            <a:endParaRPr b="0" lang="en-IE" sz="1800" spc="-1" strike="noStrike">
              <a:solidFill>
                <a:srgbClr val="000000"/>
              </a:solidFill>
              <a:latin typeface="Arial"/>
            </a:endParaRPr>
          </a:p>
        </p:txBody>
      </p:sp>
      <p:sp>
        <p:nvSpPr>
          <p:cNvPr id="23" name="Text 14"/>
          <p:cNvSpPr/>
          <p:nvPr/>
        </p:nvSpPr>
        <p:spPr>
          <a:xfrm>
            <a:off x="1969560" y="1710000"/>
            <a:ext cx="11462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dk2"/>
                </a:solidFill>
                <a:latin typeface="Segoe UI Semibold"/>
                <a:ea typeface="Segoe UI Semibold"/>
              </a:rPr>
              <a:t>Suppliers and third parties</a:t>
            </a:r>
            <a:endParaRPr b="0" lang="en-IE" sz="1000" spc="-1" strike="noStrike">
              <a:solidFill>
                <a:srgbClr val="000000"/>
              </a:solidFill>
              <a:latin typeface="Arial"/>
            </a:endParaRPr>
          </a:p>
        </p:txBody>
      </p:sp>
      <p:sp>
        <p:nvSpPr>
          <p:cNvPr id="24" name="Shape 15"/>
          <p:cNvSpPr/>
          <p:nvPr/>
        </p:nvSpPr>
        <p:spPr>
          <a:xfrm>
            <a:off x="1969560" y="2130480"/>
            <a:ext cx="91080" cy="91080"/>
          </a:xfrm>
          <a:prstGeom prst="ellipse">
            <a:avLst/>
          </a:prstGeom>
          <a:solidFill>
            <a:srgbClr val="107c10"/>
          </a:solidFill>
          <a:ln w="9525">
            <a:noFill/>
          </a:ln>
        </p:spPr>
        <p:style>
          <a:lnRef idx="0"/>
          <a:fillRef idx="0"/>
          <a:effectRef idx="0"/>
          <a:fontRef idx="minor"/>
        </p:style>
        <p:txBody>
          <a:bodyPr lIns="90000" rIns="90000" tIns="19440" bIns="19440" anchor="t">
            <a:noAutofit/>
          </a:bodyPr>
          <a:p>
            <a:endParaRPr b="0" lang="en-IE" sz="1800" spc="-1" strike="noStrike">
              <a:solidFill>
                <a:srgbClr val="ffffff"/>
              </a:solidFill>
              <a:latin typeface="Arial"/>
            </a:endParaRPr>
          </a:p>
        </p:txBody>
      </p:sp>
      <p:sp>
        <p:nvSpPr>
          <p:cNvPr id="25" name="Text 16"/>
          <p:cNvSpPr/>
          <p:nvPr/>
        </p:nvSpPr>
        <p:spPr>
          <a:xfrm>
            <a:off x="2115720" y="2075760"/>
            <a:ext cx="105480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chemeClr val="accent5"/>
                </a:solidFill>
                <a:latin typeface="Segoe UI"/>
              </a:rPr>
              <a:t>Strong</a:t>
            </a:r>
            <a:endParaRPr b="0" lang="en-IE" sz="900" spc="-1" strike="noStrike">
              <a:solidFill>
                <a:srgbClr val="000000"/>
              </a:solidFill>
              <a:latin typeface="Arial"/>
            </a:endParaRPr>
          </a:p>
        </p:txBody>
      </p:sp>
      <p:sp>
        <p:nvSpPr>
          <p:cNvPr id="26" name="Domain Devices and servers"/>
          <p:cNvSpPr/>
          <p:nvPr/>
        </p:nvSpPr>
        <p:spPr>
          <a:xfrm>
            <a:off x="3298680" y="1645920"/>
            <a:ext cx="1329120" cy="658080"/>
          </a:xfrm>
          <a:prstGeom prst="rect">
            <a:avLst/>
          </a:prstGeom>
          <a:solidFill>
            <a:schemeClr val="bg2"/>
          </a:solidFill>
          <a:ln w="0">
            <a:noFill/>
          </a:ln>
        </p:spPr>
        <p:style>
          <a:lnRef idx="0"/>
          <a:fillRef idx="0"/>
          <a:effectRef idx="0"/>
          <a:fontRef idx="minor"/>
        </p:style>
        <p:txBody>
          <a:bodyPr lIns="90000" rIns="90000" tIns="45000" bIns="45000" anchor="t">
            <a:noAutofit/>
          </a:bodyPr>
          <a:p>
            <a:endParaRPr b="0" lang="en-IE" sz="1800" spc="-1" strike="noStrike">
              <a:solidFill>
                <a:srgbClr val="000000"/>
              </a:solidFill>
              <a:latin typeface="Arial"/>
            </a:endParaRPr>
          </a:p>
        </p:txBody>
      </p:sp>
      <p:sp>
        <p:nvSpPr>
          <p:cNvPr id="27" name="Text 18"/>
          <p:cNvSpPr/>
          <p:nvPr/>
        </p:nvSpPr>
        <p:spPr>
          <a:xfrm>
            <a:off x="3390120" y="1710000"/>
            <a:ext cx="11462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dk2"/>
                </a:solidFill>
                <a:latin typeface="Segoe UI Semibold"/>
                <a:ea typeface="Segoe UI Semibold"/>
              </a:rPr>
              <a:t>Devices and servers</a:t>
            </a:r>
            <a:endParaRPr b="0" lang="en-IE" sz="1000" spc="-1" strike="noStrike">
              <a:solidFill>
                <a:srgbClr val="000000"/>
              </a:solidFill>
              <a:latin typeface="Arial"/>
            </a:endParaRPr>
          </a:p>
        </p:txBody>
      </p:sp>
      <p:sp>
        <p:nvSpPr>
          <p:cNvPr id="28" name="Shape 19"/>
          <p:cNvSpPr/>
          <p:nvPr/>
        </p:nvSpPr>
        <p:spPr>
          <a:xfrm>
            <a:off x="3390120" y="2130480"/>
            <a:ext cx="91080" cy="91080"/>
          </a:xfrm>
          <a:prstGeom prst="ellipse">
            <a:avLst/>
          </a:prstGeom>
          <a:solidFill>
            <a:srgbClr val="107c10"/>
          </a:solidFill>
          <a:ln w="9525">
            <a:noFill/>
          </a:ln>
        </p:spPr>
        <p:style>
          <a:lnRef idx="0"/>
          <a:fillRef idx="0"/>
          <a:effectRef idx="0"/>
          <a:fontRef idx="minor"/>
        </p:style>
        <p:txBody>
          <a:bodyPr lIns="90000" rIns="90000" tIns="19440" bIns="19440" anchor="t">
            <a:noAutofit/>
          </a:bodyPr>
          <a:p>
            <a:endParaRPr b="0" lang="en-IE" sz="1800" spc="-1" strike="noStrike">
              <a:solidFill>
                <a:srgbClr val="ffffff"/>
              </a:solidFill>
              <a:latin typeface="Arial"/>
            </a:endParaRPr>
          </a:p>
        </p:txBody>
      </p:sp>
      <p:sp>
        <p:nvSpPr>
          <p:cNvPr id="29" name="Text 20"/>
          <p:cNvSpPr/>
          <p:nvPr/>
        </p:nvSpPr>
        <p:spPr>
          <a:xfrm>
            <a:off x="3536280" y="2075760"/>
            <a:ext cx="105480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chemeClr val="accent5"/>
                </a:solidFill>
                <a:latin typeface="Segoe UI"/>
              </a:rPr>
              <a:t>Strong</a:t>
            </a:r>
            <a:endParaRPr b="0" lang="en-IE" sz="900" spc="-1" strike="noStrike">
              <a:solidFill>
                <a:srgbClr val="000000"/>
              </a:solidFill>
              <a:latin typeface="Arial"/>
            </a:endParaRPr>
          </a:p>
        </p:txBody>
      </p:sp>
      <p:sp>
        <p:nvSpPr>
          <p:cNvPr id="30" name="Domain Network"/>
          <p:cNvSpPr/>
          <p:nvPr/>
        </p:nvSpPr>
        <p:spPr>
          <a:xfrm>
            <a:off x="4719600" y="1645920"/>
            <a:ext cx="1329120" cy="658080"/>
          </a:xfrm>
          <a:prstGeom prst="rect">
            <a:avLst/>
          </a:prstGeom>
          <a:solidFill>
            <a:schemeClr val="bg2"/>
          </a:solidFill>
          <a:ln w="0">
            <a:noFill/>
          </a:ln>
        </p:spPr>
        <p:style>
          <a:lnRef idx="0"/>
          <a:fillRef idx="0"/>
          <a:effectRef idx="0"/>
          <a:fontRef idx="minor"/>
        </p:style>
        <p:txBody>
          <a:bodyPr lIns="90000" rIns="90000" tIns="45000" bIns="45000" anchor="t">
            <a:noAutofit/>
          </a:bodyPr>
          <a:p>
            <a:endParaRPr b="0" lang="en-IE" sz="1800" spc="-1" strike="noStrike">
              <a:solidFill>
                <a:srgbClr val="000000"/>
              </a:solidFill>
              <a:latin typeface="Arial"/>
            </a:endParaRPr>
          </a:p>
        </p:txBody>
      </p:sp>
      <p:sp>
        <p:nvSpPr>
          <p:cNvPr id="31" name="Text 22"/>
          <p:cNvSpPr/>
          <p:nvPr/>
        </p:nvSpPr>
        <p:spPr>
          <a:xfrm>
            <a:off x="4811040" y="1710000"/>
            <a:ext cx="11462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dk2"/>
                </a:solidFill>
                <a:latin typeface="Segoe UI Semibold"/>
                <a:ea typeface="Segoe UI Semibold"/>
              </a:rPr>
              <a:t>Network</a:t>
            </a:r>
            <a:endParaRPr b="0" lang="en-IE" sz="1000" spc="-1" strike="noStrike">
              <a:solidFill>
                <a:srgbClr val="000000"/>
              </a:solidFill>
              <a:latin typeface="Arial"/>
            </a:endParaRPr>
          </a:p>
        </p:txBody>
      </p:sp>
      <p:sp>
        <p:nvSpPr>
          <p:cNvPr id="32" name="Shape 23"/>
          <p:cNvSpPr/>
          <p:nvPr/>
        </p:nvSpPr>
        <p:spPr>
          <a:xfrm>
            <a:off x="4811040" y="2130480"/>
            <a:ext cx="91080" cy="91080"/>
          </a:xfrm>
          <a:prstGeom prst="ellipse">
            <a:avLst/>
          </a:prstGeom>
          <a:solidFill>
            <a:srgbClr val="107c10"/>
          </a:solidFill>
          <a:ln w="9525">
            <a:noFill/>
          </a:ln>
        </p:spPr>
        <p:style>
          <a:lnRef idx="0"/>
          <a:fillRef idx="0"/>
          <a:effectRef idx="0"/>
          <a:fontRef idx="minor"/>
        </p:style>
        <p:txBody>
          <a:bodyPr lIns="90000" rIns="90000" tIns="19440" bIns="19440" anchor="t">
            <a:noAutofit/>
          </a:bodyPr>
          <a:p>
            <a:endParaRPr b="0" lang="en-IE" sz="1800" spc="-1" strike="noStrike">
              <a:solidFill>
                <a:srgbClr val="ffffff"/>
              </a:solidFill>
              <a:latin typeface="Arial"/>
            </a:endParaRPr>
          </a:p>
        </p:txBody>
      </p:sp>
      <p:sp>
        <p:nvSpPr>
          <p:cNvPr id="33" name="Text 24"/>
          <p:cNvSpPr/>
          <p:nvPr/>
        </p:nvSpPr>
        <p:spPr>
          <a:xfrm>
            <a:off x="4957200" y="2075760"/>
            <a:ext cx="105480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chemeClr val="accent5"/>
                </a:solidFill>
                <a:latin typeface="Segoe UI"/>
              </a:rPr>
              <a:t>Strong</a:t>
            </a:r>
            <a:endParaRPr b="0" lang="en-IE" sz="900" spc="-1" strike="noStrike">
              <a:solidFill>
                <a:srgbClr val="000000"/>
              </a:solidFill>
              <a:latin typeface="Arial"/>
            </a:endParaRPr>
          </a:p>
        </p:txBody>
      </p:sp>
      <p:sp>
        <p:nvSpPr>
          <p:cNvPr id="34" name="Domain Identity and access"/>
          <p:cNvSpPr/>
          <p:nvPr/>
        </p:nvSpPr>
        <p:spPr>
          <a:xfrm>
            <a:off x="6140160" y="1645920"/>
            <a:ext cx="1329120" cy="658080"/>
          </a:xfrm>
          <a:prstGeom prst="rect">
            <a:avLst/>
          </a:prstGeom>
          <a:solidFill>
            <a:schemeClr val="tx2"/>
          </a:solidFill>
          <a:ln w="0">
            <a:noFill/>
          </a:ln>
        </p:spPr>
        <p:style>
          <a:lnRef idx="0"/>
          <a:fillRef idx="0"/>
          <a:effectRef idx="0"/>
          <a:fontRef idx="minor"/>
        </p:style>
        <p:txBody>
          <a:bodyPr lIns="90000" rIns="90000" tIns="45000" bIns="45000" anchor="t">
            <a:noAutofit/>
          </a:bodyPr>
          <a:p>
            <a:endParaRPr b="0" lang="en-IE" sz="1800" spc="-1" strike="noStrike">
              <a:solidFill>
                <a:srgbClr val="ffffff"/>
              </a:solidFill>
              <a:latin typeface="Arial"/>
            </a:endParaRPr>
          </a:p>
        </p:txBody>
      </p:sp>
      <p:sp>
        <p:nvSpPr>
          <p:cNvPr id="35" name="Text 26"/>
          <p:cNvSpPr/>
          <p:nvPr/>
        </p:nvSpPr>
        <p:spPr>
          <a:xfrm>
            <a:off x="6231600" y="1710000"/>
            <a:ext cx="11462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lt1"/>
                </a:solidFill>
                <a:latin typeface="Segoe UI Semibold"/>
                <a:ea typeface="Segoe UI Semibold"/>
              </a:rPr>
              <a:t>Identity and access</a:t>
            </a:r>
            <a:endParaRPr b="0" lang="en-IE" sz="1000" spc="-1" strike="noStrike">
              <a:solidFill>
                <a:srgbClr val="000000"/>
              </a:solidFill>
              <a:latin typeface="Arial"/>
            </a:endParaRPr>
          </a:p>
        </p:txBody>
      </p:sp>
      <p:sp>
        <p:nvSpPr>
          <p:cNvPr id="36" name="Shape 27"/>
          <p:cNvSpPr/>
          <p:nvPr/>
        </p:nvSpPr>
        <p:spPr>
          <a:xfrm>
            <a:off x="6231600" y="2130480"/>
            <a:ext cx="91080" cy="91080"/>
          </a:xfrm>
          <a:prstGeom prst="ellipse">
            <a:avLst/>
          </a:prstGeom>
          <a:solidFill>
            <a:srgbClr val="107c10"/>
          </a:solidFill>
          <a:ln w="9525">
            <a:solidFill>
              <a:srgbClr val="ffffff"/>
            </a:solidFill>
            <a:round/>
          </a:ln>
        </p:spPr>
        <p:style>
          <a:lnRef idx="0"/>
          <a:fillRef idx="0"/>
          <a:effectRef idx="0"/>
          <a:fontRef idx="minor"/>
        </p:style>
        <p:txBody>
          <a:bodyPr lIns="90000" rIns="90000" tIns="19440" bIns="19440" anchor="t">
            <a:noAutofit/>
          </a:bodyPr>
          <a:p>
            <a:endParaRPr b="0" lang="en-IE" sz="1800" spc="-1" strike="noStrike">
              <a:solidFill>
                <a:srgbClr val="ffffff"/>
              </a:solidFill>
              <a:latin typeface="Arial"/>
            </a:endParaRPr>
          </a:p>
        </p:txBody>
      </p:sp>
      <p:sp>
        <p:nvSpPr>
          <p:cNvPr id="37" name="Text 28"/>
          <p:cNvSpPr/>
          <p:nvPr/>
        </p:nvSpPr>
        <p:spPr>
          <a:xfrm>
            <a:off x="6378120" y="2075760"/>
            <a:ext cx="105480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dce4ec"/>
                </a:solidFill>
                <a:latin typeface="Segoe UI"/>
              </a:rPr>
              <a:t>Strong  ·  Level 4</a:t>
            </a:r>
            <a:endParaRPr b="0" lang="en-IE" sz="900" spc="-1" strike="noStrike">
              <a:solidFill>
                <a:srgbClr val="000000"/>
              </a:solidFill>
              <a:latin typeface="Arial"/>
            </a:endParaRPr>
          </a:p>
        </p:txBody>
      </p:sp>
      <p:sp>
        <p:nvSpPr>
          <p:cNvPr id="38" name="Domain Cloud and email"/>
          <p:cNvSpPr/>
          <p:nvPr/>
        </p:nvSpPr>
        <p:spPr>
          <a:xfrm>
            <a:off x="7561080" y="1645920"/>
            <a:ext cx="1329120" cy="658080"/>
          </a:xfrm>
          <a:prstGeom prst="rect">
            <a:avLst/>
          </a:prstGeom>
          <a:solidFill>
            <a:schemeClr val="bg2"/>
          </a:solidFill>
          <a:ln w="0">
            <a:noFill/>
          </a:ln>
        </p:spPr>
        <p:style>
          <a:lnRef idx="0"/>
          <a:fillRef idx="0"/>
          <a:effectRef idx="0"/>
          <a:fontRef idx="minor"/>
        </p:style>
        <p:txBody>
          <a:bodyPr lIns="90000" rIns="90000" tIns="45000" bIns="45000" anchor="t">
            <a:noAutofit/>
          </a:bodyPr>
          <a:p>
            <a:endParaRPr b="0" lang="en-IE" sz="1800" spc="-1" strike="noStrike">
              <a:solidFill>
                <a:srgbClr val="000000"/>
              </a:solidFill>
              <a:latin typeface="Arial"/>
            </a:endParaRPr>
          </a:p>
        </p:txBody>
      </p:sp>
      <p:sp>
        <p:nvSpPr>
          <p:cNvPr id="39" name="Text 30"/>
          <p:cNvSpPr/>
          <p:nvPr/>
        </p:nvSpPr>
        <p:spPr>
          <a:xfrm>
            <a:off x="7652520" y="1710000"/>
            <a:ext cx="11462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dk2"/>
                </a:solidFill>
                <a:latin typeface="Segoe UI Semibold"/>
                <a:ea typeface="Segoe UI Semibold"/>
              </a:rPr>
              <a:t>Cloud and email</a:t>
            </a:r>
            <a:endParaRPr b="0" lang="en-IE" sz="1000" spc="-1" strike="noStrike">
              <a:solidFill>
                <a:srgbClr val="000000"/>
              </a:solidFill>
              <a:latin typeface="Arial"/>
            </a:endParaRPr>
          </a:p>
        </p:txBody>
      </p:sp>
      <p:sp>
        <p:nvSpPr>
          <p:cNvPr id="40" name="Shape 31"/>
          <p:cNvSpPr/>
          <p:nvPr/>
        </p:nvSpPr>
        <p:spPr>
          <a:xfrm>
            <a:off x="7652520" y="2130480"/>
            <a:ext cx="91080" cy="91080"/>
          </a:xfrm>
          <a:prstGeom prst="ellipse">
            <a:avLst/>
          </a:prstGeom>
          <a:solidFill>
            <a:srgbClr val="107c10"/>
          </a:solidFill>
          <a:ln w="9525">
            <a:noFill/>
          </a:ln>
        </p:spPr>
        <p:style>
          <a:lnRef idx="0"/>
          <a:fillRef idx="0"/>
          <a:effectRef idx="0"/>
          <a:fontRef idx="minor"/>
        </p:style>
        <p:txBody>
          <a:bodyPr lIns="90000" rIns="90000" tIns="19440" bIns="19440" anchor="t">
            <a:noAutofit/>
          </a:bodyPr>
          <a:p>
            <a:endParaRPr b="0" lang="en-IE" sz="1800" spc="-1" strike="noStrike">
              <a:solidFill>
                <a:srgbClr val="ffffff"/>
              </a:solidFill>
              <a:latin typeface="Arial"/>
            </a:endParaRPr>
          </a:p>
        </p:txBody>
      </p:sp>
      <p:sp>
        <p:nvSpPr>
          <p:cNvPr id="41" name="Text 32"/>
          <p:cNvSpPr/>
          <p:nvPr/>
        </p:nvSpPr>
        <p:spPr>
          <a:xfrm>
            <a:off x="7798680" y="2075760"/>
            <a:ext cx="105480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chemeClr val="accent5"/>
                </a:solidFill>
                <a:latin typeface="Segoe UI"/>
              </a:rPr>
              <a:t>Strong</a:t>
            </a:r>
            <a:endParaRPr b="0" lang="en-IE" sz="900" spc="-1" strike="noStrike">
              <a:solidFill>
                <a:srgbClr val="000000"/>
              </a:solidFill>
              <a:latin typeface="Arial"/>
            </a:endParaRPr>
          </a:p>
        </p:txBody>
      </p:sp>
      <p:sp>
        <p:nvSpPr>
          <p:cNvPr id="42" name="Domain Data protection"/>
          <p:cNvSpPr/>
          <p:nvPr/>
        </p:nvSpPr>
        <p:spPr>
          <a:xfrm>
            <a:off x="8981640" y="1645920"/>
            <a:ext cx="1329120" cy="658080"/>
          </a:xfrm>
          <a:prstGeom prst="rect">
            <a:avLst/>
          </a:prstGeom>
          <a:solidFill>
            <a:schemeClr val="bg2"/>
          </a:solidFill>
          <a:ln w="0">
            <a:noFill/>
          </a:ln>
        </p:spPr>
        <p:style>
          <a:lnRef idx="0"/>
          <a:fillRef idx="0"/>
          <a:effectRef idx="0"/>
          <a:fontRef idx="minor"/>
        </p:style>
        <p:txBody>
          <a:bodyPr lIns="90000" rIns="90000" tIns="45000" bIns="45000" anchor="t">
            <a:noAutofit/>
          </a:bodyPr>
          <a:p>
            <a:endParaRPr b="0" lang="en-IE" sz="1800" spc="-1" strike="noStrike">
              <a:solidFill>
                <a:srgbClr val="000000"/>
              </a:solidFill>
              <a:latin typeface="Arial"/>
            </a:endParaRPr>
          </a:p>
        </p:txBody>
      </p:sp>
      <p:sp>
        <p:nvSpPr>
          <p:cNvPr id="43" name="Text 34"/>
          <p:cNvSpPr/>
          <p:nvPr/>
        </p:nvSpPr>
        <p:spPr>
          <a:xfrm>
            <a:off x="9073080" y="1710000"/>
            <a:ext cx="11462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dk2"/>
                </a:solidFill>
                <a:latin typeface="Segoe UI Semibold"/>
                <a:ea typeface="Segoe UI Semibold"/>
              </a:rPr>
              <a:t>Data protection</a:t>
            </a:r>
            <a:endParaRPr b="0" lang="en-IE" sz="1000" spc="-1" strike="noStrike">
              <a:solidFill>
                <a:srgbClr val="000000"/>
              </a:solidFill>
              <a:latin typeface="Arial"/>
            </a:endParaRPr>
          </a:p>
        </p:txBody>
      </p:sp>
      <p:sp>
        <p:nvSpPr>
          <p:cNvPr id="44" name="Shape 35"/>
          <p:cNvSpPr/>
          <p:nvPr/>
        </p:nvSpPr>
        <p:spPr>
          <a:xfrm>
            <a:off x="9073080" y="2130480"/>
            <a:ext cx="91080" cy="91080"/>
          </a:xfrm>
          <a:prstGeom prst="ellipse">
            <a:avLst/>
          </a:prstGeom>
          <a:solidFill>
            <a:srgbClr val="107c10"/>
          </a:solidFill>
          <a:ln w="9525">
            <a:noFill/>
          </a:ln>
        </p:spPr>
        <p:style>
          <a:lnRef idx="0"/>
          <a:fillRef idx="0"/>
          <a:effectRef idx="0"/>
          <a:fontRef idx="minor"/>
        </p:style>
        <p:txBody>
          <a:bodyPr lIns="90000" rIns="90000" tIns="19440" bIns="19440" anchor="t">
            <a:noAutofit/>
          </a:bodyPr>
          <a:p>
            <a:endParaRPr b="0" lang="en-IE" sz="1800" spc="-1" strike="noStrike">
              <a:solidFill>
                <a:srgbClr val="ffffff"/>
              </a:solidFill>
              <a:latin typeface="Arial"/>
            </a:endParaRPr>
          </a:p>
        </p:txBody>
      </p:sp>
      <p:sp>
        <p:nvSpPr>
          <p:cNvPr id="45" name="Text 36"/>
          <p:cNvSpPr/>
          <p:nvPr/>
        </p:nvSpPr>
        <p:spPr>
          <a:xfrm>
            <a:off x="9219600" y="2075760"/>
            <a:ext cx="105480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chemeClr val="accent5"/>
                </a:solidFill>
                <a:latin typeface="Segoe UI"/>
              </a:rPr>
              <a:t>Strong</a:t>
            </a:r>
            <a:endParaRPr b="0" lang="en-IE" sz="900" spc="-1" strike="noStrike">
              <a:solidFill>
                <a:srgbClr val="000000"/>
              </a:solidFill>
              <a:latin typeface="Arial"/>
            </a:endParaRPr>
          </a:p>
        </p:txBody>
      </p:sp>
      <p:sp>
        <p:nvSpPr>
          <p:cNvPr id="46" name="Domain Detection and response"/>
          <p:cNvSpPr/>
          <p:nvPr/>
        </p:nvSpPr>
        <p:spPr>
          <a:xfrm>
            <a:off x="10402560" y="1645920"/>
            <a:ext cx="1329120" cy="658080"/>
          </a:xfrm>
          <a:prstGeom prst="rect">
            <a:avLst/>
          </a:prstGeom>
          <a:solidFill>
            <a:schemeClr val="bg2"/>
          </a:solidFill>
          <a:ln w="0">
            <a:noFill/>
          </a:ln>
        </p:spPr>
        <p:style>
          <a:lnRef idx="0"/>
          <a:fillRef idx="0"/>
          <a:effectRef idx="0"/>
          <a:fontRef idx="minor"/>
        </p:style>
        <p:txBody>
          <a:bodyPr lIns="90000" rIns="90000" tIns="45000" bIns="45000" anchor="t">
            <a:noAutofit/>
          </a:bodyPr>
          <a:p>
            <a:endParaRPr b="0" lang="en-IE" sz="1800" spc="-1" strike="noStrike">
              <a:solidFill>
                <a:srgbClr val="000000"/>
              </a:solidFill>
              <a:latin typeface="Arial"/>
            </a:endParaRPr>
          </a:p>
        </p:txBody>
      </p:sp>
      <p:sp>
        <p:nvSpPr>
          <p:cNvPr id="47" name="Text 38"/>
          <p:cNvSpPr/>
          <p:nvPr/>
        </p:nvSpPr>
        <p:spPr>
          <a:xfrm>
            <a:off x="10494000" y="1710000"/>
            <a:ext cx="11462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dk2"/>
                </a:solidFill>
                <a:latin typeface="Segoe UI Semibold"/>
                <a:ea typeface="Segoe UI Semibold"/>
              </a:rPr>
              <a:t>Detection and response</a:t>
            </a:r>
            <a:endParaRPr b="0" lang="en-IE" sz="1000" spc="-1" strike="noStrike">
              <a:solidFill>
                <a:srgbClr val="000000"/>
              </a:solidFill>
              <a:latin typeface="Arial"/>
            </a:endParaRPr>
          </a:p>
        </p:txBody>
      </p:sp>
      <p:sp>
        <p:nvSpPr>
          <p:cNvPr id="48" name="Shape 39"/>
          <p:cNvSpPr/>
          <p:nvPr/>
        </p:nvSpPr>
        <p:spPr>
          <a:xfrm>
            <a:off x="10494000" y="2130480"/>
            <a:ext cx="91080" cy="91080"/>
          </a:xfrm>
          <a:prstGeom prst="ellipse">
            <a:avLst/>
          </a:prstGeom>
          <a:solidFill>
            <a:srgbClr val="107c10"/>
          </a:solidFill>
          <a:ln w="9525">
            <a:noFill/>
          </a:ln>
        </p:spPr>
        <p:style>
          <a:lnRef idx="0"/>
          <a:fillRef idx="0"/>
          <a:effectRef idx="0"/>
          <a:fontRef idx="minor"/>
        </p:style>
        <p:txBody>
          <a:bodyPr lIns="90000" rIns="90000" tIns="19440" bIns="19440" anchor="t">
            <a:noAutofit/>
          </a:bodyPr>
          <a:p>
            <a:endParaRPr b="0" lang="en-IE" sz="1800" spc="-1" strike="noStrike">
              <a:solidFill>
                <a:srgbClr val="ffffff"/>
              </a:solidFill>
              <a:latin typeface="Arial"/>
            </a:endParaRPr>
          </a:p>
        </p:txBody>
      </p:sp>
      <p:sp>
        <p:nvSpPr>
          <p:cNvPr id="49" name="Text 40"/>
          <p:cNvSpPr/>
          <p:nvPr/>
        </p:nvSpPr>
        <p:spPr>
          <a:xfrm>
            <a:off x="10640160" y="2075760"/>
            <a:ext cx="105480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chemeClr val="accent5"/>
                </a:solidFill>
                <a:latin typeface="Segoe UI"/>
              </a:rPr>
              <a:t>Strong</a:t>
            </a:r>
            <a:endParaRPr b="0" lang="en-IE" sz="900" spc="-1" strike="noStrike">
              <a:solidFill>
                <a:srgbClr val="000000"/>
              </a:solidFill>
              <a:latin typeface="Arial"/>
            </a:endParaRPr>
          </a:p>
        </p:txBody>
      </p:sp>
      <p:sp>
        <p:nvSpPr>
          <p:cNvPr id="50" name="Shape 41"/>
          <p:cNvSpPr/>
          <p:nvPr/>
        </p:nvSpPr>
        <p:spPr>
          <a:xfrm rot="10800000">
            <a:off x="6695280" y="2304720"/>
            <a:ext cx="219240" cy="118440"/>
          </a:xfrm>
          <a:prstGeom prst="triangle">
            <a:avLst>
              <a:gd name="adj" fmla="val 50000"/>
            </a:avLst>
          </a:prstGeom>
          <a:solidFill>
            <a:schemeClr val="tx2"/>
          </a:solidFill>
          <a:ln w="0">
            <a:noFill/>
          </a:ln>
        </p:spPr>
        <p:style>
          <a:lnRef idx="0"/>
          <a:fillRef idx="0"/>
          <a:effectRef idx="0"/>
          <a:fontRef idx="minor"/>
        </p:style>
        <p:txBody>
          <a:bodyPr lIns="90000" rIns="90000" tIns="14400" bIns="14400" anchor="t">
            <a:noAutofit/>
          </a:bodyPr>
          <a:p>
            <a:endParaRPr b="0" lang="en-IE" sz="1800" spc="-1" strike="noStrike">
              <a:solidFill>
                <a:srgbClr val="ffffff"/>
              </a:solidFill>
              <a:latin typeface="Arial"/>
            </a:endParaRPr>
          </a:p>
        </p:txBody>
      </p:sp>
      <p:sp>
        <p:nvSpPr>
          <p:cNvPr id="51" name="Text 42"/>
          <p:cNvSpPr/>
          <p:nvPr/>
        </p:nvSpPr>
        <p:spPr>
          <a:xfrm>
            <a:off x="457200" y="2377440"/>
            <a:ext cx="822924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000" spc="-1" strike="noStrike">
                <a:solidFill>
                  <a:schemeClr val="accent5"/>
                </a:solidFill>
                <a:latin typeface="Segoe UI"/>
              </a:rPr>
              <a:t>Active Directory, assessed by ORADAD, is one system within Identity and access</a:t>
            </a:r>
            <a:endParaRPr b="0" lang="en-IE" sz="1000" spc="-1" strike="noStrike">
              <a:solidFill>
                <a:srgbClr val="000000"/>
              </a:solidFill>
              <a:latin typeface="Arial"/>
            </a:endParaRPr>
          </a:p>
        </p:txBody>
      </p:sp>
      <p:sp>
        <p:nvSpPr>
          <p:cNvPr id="52" name="Shape 43"/>
          <p:cNvSpPr/>
          <p:nvPr/>
        </p:nvSpPr>
        <p:spPr>
          <a:xfrm>
            <a:off x="457200" y="2724840"/>
            <a:ext cx="2606040" cy="360"/>
          </a:xfrm>
          <a:prstGeom prst="line">
            <a:avLst/>
          </a:prstGeom>
          <a:ln w="12700">
            <a:solidFill>
              <a:srgbClr val="8a8886"/>
            </a:solidFill>
            <a:round/>
          </a:ln>
        </p:spPr>
        <p:style>
          <a:lnRef idx="0"/>
          <a:fillRef idx="0"/>
          <a:effectRef idx="0"/>
          <a:fontRef idx="minor"/>
        </p:style>
        <p:txBody>
          <a:bodyPr lIns="90000" rIns="90000" tIns="-44640" bIns="-44640" anchor="t" anchorCtr="1">
            <a:noAutofit/>
          </a:bodyPr>
          <a:p>
            <a:endParaRPr b="0" lang="en-IE" sz="1800" spc="-1" strike="noStrike">
              <a:solidFill>
                <a:srgbClr val="000000"/>
              </a:solidFill>
              <a:latin typeface="Arial"/>
            </a:endParaRPr>
          </a:p>
        </p:txBody>
      </p:sp>
      <p:sp>
        <p:nvSpPr>
          <p:cNvPr id="53" name="Text 44"/>
          <p:cNvSpPr/>
          <p:nvPr/>
        </p:nvSpPr>
        <p:spPr>
          <a:xfrm>
            <a:off x="457200" y="2816280"/>
            <a:ext cx="3654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accent1"/>
                </a:solidFill>
                <a:latin typeface="Segoe UI Semibold"/>
                <a:ea typeface="Segoe UI Semibold"/>
              </a:rPr>
              <a:t>01</a:t>
            </a:r>
            <a:endParaRPr b="0" lang="en-IE" sz="1200" spc="-1" strike="noStrike">
              <a:solidFill>
                <a:srgbClr val="000000"/>
              </a:solidFill>
              <a:latin typeface="Arial"/>
            </a:endParaRPr>
          </a:p>
        </p:txBody>
      </p:sp>
      <p:sp>
        <p:nvSpPr>
          <p:cNvPr id="54" name="Text 45"/>
          <p:cNvSpPr/>
          <p:nvPr/>
        </p:nvSpPr>
        <p:spPr>
          <a:xfrm>
            <a:off x="822960" y="2816280"/>
            <a:ext cx="223992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chemeClr val="dk2"/>
                </a:solidFill>
                <a:latin typeface="Segoe UI Semibold"/>
                <a:ea typeface="Segoe UI Semibold"/>
              </a:rPr>
              <a:t>What ORADAD is</a:t>
            </a:r>
            <a:endParaRPr b="0" lang="en-IE" sz="1300" spc="-1" strike="noStrike">
              <a:solidFill>
                <a:srgbClr val="000000"/>
              </a:solidFill>
              <a:latin typeface="Arial"/>
            </a:endParaRPr>
          </a:p>
        </p:txBody>
      </p:sp>
      <p:sp>
        <p:nvSpPr>
          <p:cNvPr id="55" name="Text 46"/>
          <p:cNvSpPr/>
          <p:nvPr/>
        </p:nvSpPr>
        <p:spPr>
          <a:xfrm>
            <a:off x="457200" y="3227760"/>
            <a:ext cx="2605680" cy="242280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799"/>
              </a:spcAft>
              <a:tabLst>
                <a:tab algn="l" pos="0"/>
              </a:tabLst>
            </a:pPr>
            <a:r>
              <a:rPr b="0" lang="en-US" sz="1200" spc="-1" strike="noStrike">
                <a:solidFill>
                  <a:schemeClr val="dk1"/>
                </a:solidFill>
                <a:latin typeface="Segoe UI"/>
              </a:rPr>
              <a:t>A security check of Active Directory, the company’s master key register: it decides who can log in and what they can open.</a:t>
            </a:r>
            <a:endParaRPr b="0" lang="en-IE" sz="1200" spc="-1" strike="noStrike">
              <a:solidFill>
                <a:srgbClr val="000000"/>
              </a:solidFill>
              <a:latin typeface="Arial"/>
            </a:endParaRPr>
          </a:p>
          <a:p>
            <a:pPr defTabSz="914400">
              <a:lnSpc>
                <a:spcPct val="100000"/>
              </a:lnSpc>
              <a:spcAft>
                <a:spcPts val="799"/>
              </a:spcAft>
              <a:tabLst>
                <a:tab algn="l" pos="0"/>
              </a:tabLst>
            </a:pPr>
            <a:r>
              <a:rPr b="0" lang="en-US" sz="1200" spc="-1" strike="noStrike">
                <a:solidFill>
                  <a:schemeClr val="dk1"/>
                </a:solidFill>
                <a:latin typeface="Segoe UI"/>
              </a:rPr>
              <a:t>Designed by ANSSI, France’s national cybersecurity agency. We run the ORADAD tool on our network; ANSSI analyses the data and scores us from 1 to 5.</a:t>
            </a:r>
            <a:endParaRPr b="0" lang="en-IE" sz="1200" spc="-1" strike="noStrike">
              <a:solidFill>
                <a:srgbClr val="000000"/>
              </a:solidFill>
              <a:latin typeface="Arial"/>
            </a:endParaRPr>
          </a:p>
          <a:p>
            <a:pPr defTabSz="914400">
              <a:lnSpc>
                <a:spcPct val="100000"/>
              </a:lnSpc>
              <a:spcAft>
                <a:spcPts val="799"/>
              </a:spcAft>
              <a:tabLst>
                <a:tab algn="l" pos="0"/>
              </a:tabLst>
            </a:pPr>
            <a:r>
              <a:rPr b="0" i="1" lang="en-US" sz="1200" spc="-1" strike="noStrike">
                <a:solidFill>
                  <a:schemeClr val="accent5"/>
                </a:solidFill>
                <a:latin typeface="Segoe UI"/>
              </a:rPr>
              <a:t>A level counts only when every check below it passes.</a:t>
            </a:r>
            <a:endParaRPr b="0" lang="en-IE" sz="1200" spc="-1" strike="noStrike">
              <a:solidFill>
                <a:srgbClr val="000000"/>
              </a:solidFill>
              <a:latin typeface="Arial"/>
            </a:endParaRPr>
          </a:p>
        </p:txBody>
      </p:sp>
      <p:sp>
        <p:nvSpPr>
          <p:cNvPr id="56" name="Shape 47"/>
          <p:cNvSpPr/>
          <p:nvPr/>
        </p:nvSpPr>
        <p:spPr>
          <a:xfrm>
            <a:off x="3346560" y="2724840"/>
            <a:ext cx="2606040" cy="360"/>
          </a:xfrm>
          <a:prstGeom prst="line">
            <a:avLst/>
          </a:prstGeom>
          <a:ln w="12700">
            <a:solidFill>
              <a:srgbClr val="8a8886"/>
            </a:solidFill>
            <a:round/>
          </a:ln>
        </p:spPr>
        <p:style>
          <a:lnRef idx="0"/>
          <a:fillRef idx="0"/>
          <a:effectRef idx="0"/>
          <a:fontRef idx="minor"/>
        </p:style>
        <p:txBody>
          <a:bodyPr lIns="90000" rIns="90000" tIns="-44640" bIns="-44640" anchor="t" anchorCtr="1">
            <a:noAutofit/>
          </a:bodyPr>
          <a:p>
            <a:endParaRPr b="0" lang="en-IE" sz="1800" spc="-1" strike="noStrike">
              <a:solidFill>
                <a:srgbClr val="000000"/>
              </a:solidFill>
              <a:latin typeface="Arial"/>
            </a:endParaRPr>
          </a:p>
        </p:txBody>
      </p:sp>
      <p:sp>
        <p:nvSpPr>
          <p:cNvPr id="57" name="Text 48"/>
          <p:cNvSpPr/>
          <p:nvPr/>
        </p:nvSpPr>
        <p:spPr>
          <a:xfrm>
            <a:off x="3346560" y="2816280"/>
            <a:ext cx="3654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accent1"/>
                </a:solidFill>
                <a:latin typeface="Segoe UI Semibold"/>
                <a:ea typeface="Segoe UI Semibold"/>
              </a:rPr>
              <a:t>02</a:t>
            </a:r>
            <a:endParaRPr b="0" lang="en-IE" sz="1200" spc="-1" strike="noStrike">
              <a:solidFill>
                <a:srgbClr val="000000"/>
              </a:solidFill>
              <a:latin typeface="Arial"/>
            </a:endParaRPr>
          </a:p>
        </p:txBody>
      </p:sp>
      <p:sp>
        <p:nvSpPr>
          <p:cNvPr id="58" name="Text 49"/>
          <p:cNvSpPr/>
          <p:nvPr/>
        </p:nvSpPr>
        <p:spPr>
          <a:xfrm>
            <a:off x="3712320" y="2816280"/>
            <a:ext cx="223992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chemeClr val="dk2"/>
                </a:solidFill>
                <a:latin typeface="Segoe UI Semibold"/>
                <a:ea typeface="Segoe UI Semibold"/>
              </a:rPr>
              <a:t>Why we use it</a:t>
            </a:r>
            <a:endParaRPr b="0" lang="en-IE" sz="1300" spc="-1" strike="noStrike">
              <a:solidFill>
                <a:srgbClr val="000000"/>
              </a:solidFill>
              <a:latin typeface="Arial"/>
            </a:endParaRPr>
          </a:p>
        </p:txBody>
      </p:sp>
      <p:sp>
        <p:nvSpPr>
          <p:cNvPr id="59" name="Text 50"/>
          <p:cNvSpPr/>
          <p:nvPr/>
        </p:nvSpPr>
        <p:spPr>
          <a:xfrm>
            <a:off x="3346560" y="3227760"/>
            <a:ext cx="2605680" cy="685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dk2"/>
                </a:solidFill>
                <a:latin typeface="Segoe UI Semibold"/>
                <a:ea typeface="Segoe UI Semibold"/>
              </a:rPr>
              <a:t>Regulatory requirement</a:t>
            </a:r>
            <a:endParaRPr b="0" lang="en-IE" sz="1200" spc="-1" strike="noStrike">
              <a:solidFill>
                <a:srgbClr val="000000"/>
              </a:solidFill>
              <a:latin typeface="Arial"/>
            </a:endParaRPr>
          </a:p>
          <a:p>
            <a:pPr defTabSz="914400">
              <a:lnSpc>
                <a:spcPct val="100000"/>
              </a:lnSpc>
              <a:tabLst>
                <a:tab algn="l" pos="0"/>
              </a:tabLst>
            </a:pPr>
            <a:r>
              <a:rPr b="0" lang="en-US" sz="1200" spc="-1" strike="noStrike">
                <a:solidFill>
                  <a:schemeClr val="dk1"/>
                </a:solidFill>
                <a:latin typeface="Segoe UI"/>
                <a:ea typeface="Segoe UI Semibold"/>
              </a:rPr>
              <a:t>Required for </a:t>
            </a:r>
            <a:r>
              <a:rPr b="0" lang="en-US" sz="1200" spc="-1" strike="noStrike">
                <a:solidFill>
                  <a:schemeClr val="accent2"/>
                </a:solidFill>
                <a:latin typeface="Segoe UI"/>
                <a:ea typeface="Segoe UI Semibold"/>
              </a:rPr>
              <a:t>[our category]</a:t>
            </a:r>
            <a:r>
              <a:rPr b="0" lang="en-US" sz="1200" spc="-1" strike="noStrike">
                <a:solidFill>
                  <a:schemeClr val="dk1"/>
                </a:solidFill>
                <a:latin typeface="Segoe UI"/>
                <a:ea typeface="Segoe UI Semibold"/>
              </a:rPr>
              <a:t>.</a:t>
            </a:r>
            <a:endParaRPr b="0" lang="en-IE" sz="1200" spc="-1" strike="noStrike">
              <a:solidFill>
                <a:srgbClr val="000000"/>
              </a:solidFill>
              <a:latin typeface="Arial"/>
            </a:endParaRPr>
          </a:p>
        </p:txBody>
      </p:sp>
      <p:sp>
        <p:nvSpPr>
          <p:cNvPr id="60" name="Text 51"/>
          <p:cNvSpPr/>
          <p:nvPr/>
        </p:nvSpPr>
        <p:spPr>
          <a:xfrm>
            <a:off x="3346560" y="4005000"/>
            <a:ext cx="2605680" cy="685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dk2"/>
                </a:solidFill>
                <a:latin typeface="Segoe UI Semibold"/>
                <a:ea typeface="Segoe UI Semibold"/>
              </a:rPr>
              <a:t>Protects a critical system</a:t>
            </a:r>
            <a:endParaRPr b="0" lang="en-IE" sz="1200" spc="-1" strike="noStrike">
              <a:solidFill>
                <a:srgbClr val="000000"/>
              </a:solidFill>
              <a:latin typeface="Arial"/>
            </a:endParaRPr>
          </a:p>
          <a:p>
            <a:pPr defTabSz="914400">
              <a:lnSpc>
                <a:spcPct val="100000"/>
              </a:lnSpc>
              <a:tabLst>
                <a:tab algn="l" pos="0"/>
              </a:tabLst>
            </a:pPr>
            <a:r>
              <a:rPr b="0" lang="en-US" sz="1200" spc="-1" strike="noStrike">
                <a:solidFill>
                  <a:schemeClr val="dk1"/>
                </a:solidFill>
                <a:latin typeface="Segoe UI"/>
                <a:ea typeface="Segoe UI Semibold"/>
              </a:rPr>
              <a:t>Every login and access right depends on it.</a:t>
            </a:r>
            <a:endParaRPr b="0" lang="en-IE" sz="1200" spc="-1" strike="noStrike">
              <a:solidFill>
                <a:srgbClr val="000000"/>
              </a:solidFill>
              <a:latin typeface="Arial"/>
            </a:endParaRPr>
          </a:p>
        </p:txBody>
      </p:sp>
      <p:sp>
        <p:nvSpPr>
          <p:cNvPr id="61" name="Text 52"/>
          <p:cNvSpPr/>
          <p:nvPr/>
        </p:nvSpPr>
        <p:spPr>
          <a:xfrm>
            <a:off x="3346560" y="4782240"/>
            <a:ext cx="2605680" cy="685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dk2"/>
                </a:solidFill>
                <a:latin typeface="Segoe UI Semibold"/>
                <a:ea typeface="Segoe UI Semibold"/>
              </a:rPr>
              <a:t>Independent benchmark</a:t>
            </a:r>
            <a:endParaRPr b="0" lang="en-IE" sz="1200" spc="-1" strike="noStrike">
              <a:solidFill>
                <a:srgbClr val="000000"/>
              </a:solidFill>
              <a:latin typeface="Arial"/>
            </a:endParaRPr>
          </a:p>
          <a:p>
            <a:pPr defTabSz="914400">
              <a:lnSpc>
                <a:spcPct val="100000"/>
              </a:lnSpc>
              <a:tabLst>
                <a:tab algn="l" pos="0"/>
              </a:tabLst>
            </a:pPr>
            <a:r>
              <a:rPr b="0" lang="en-US" sz="1200" spc="-1" strike="noStrike">
                <a:solidFill>
                  <a:schemeClr val="dk1"/>
                </a:solidFill>
                <a:latin typeface="Segoe UI"/>
                <a:ea typeface="Segoe UI Semibold"/>
              </a:rPr>
              <a:t>A state-authority score we can track over time.</a:t>
            </a:r>
            <a:endParaRPr b="0" lang="en-IE" sz="1200" spc="-1" strike="noStrike">
              <a:solidFill>
                <a:srgbClr val="000000"/>
              </a:solidFill>
              <a:latin typeface="Arial"/>
            </a:endParaRPr>
          </a:p>
        </p:txBody>
      </p:sp>
      <p:sp>
        <p:nvSpPr>
          <p:cNvPr id="62" name="Score"/>
          <p:cNvSpPr/>
          <p:nvPr/>
        </p:nvSpPr>
        <p:spPr>
          <a:xfrm>
            <a:off x="6236280" y="2724840"/>
            <a:ext cx="2605680" cy="2989800"/>
          </a:xfrm>
          <a:prstGeom prst="rect">
            <a:avLst/>
          </a:prstGeom>
          <a:solidFill>
            <a:schemeClr val="tx2"/>
          </a:solidFill>
          <a:ln w="0">
            <a:noFill/>
          </a:ln>
        </p:spPr>
        <p:style>
          <a:lnRef idx="0"/>
          <a:fillRef idx="0"/>
          <a:effectRef idx="0"/>
          <a:fontRef idx="minor"/>
        </p:style>
        <p:txBody>
          <a:bodyPr lIns="90000" rIns="90000" tIns="45000" bIns="45000" anchor="t">
            <a:noAutofit/>
          </a:bodyPr>
          <a:p>
            <a:endParaRPr b="0" lang="en-IE" sz="1800" spc="-1" strike="noStrike">
              <a:solidFill>
                <a:srgbClr val="ffffff"/>
              </a:solidFill>
              <a:latin typeface="Arial"/>
            </a:endParaRPr>
          </a:p>
        </p:txBody>
      </p:sp>
      <p:sp>
        <p:nvSpPr>
          <p:cNvPr id="63" name="Text 54"/>
          <p:cNvSpPr/>
          <p:nvPr/>
        </p:nvSpPr>
        <p:spPr>
          <a:xfrm>
            <a:off x="6464880" y="2862000"/>
            <a:ext cx="21484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chemeClr val="lt1"/>
                </a:solidFill>
                <a:latin typeface="Segoe UI Semibold"/>
                <a:ea typeface="Segoe UI Semibold"/>
              </a:rPr>
              <a:t>Active Directory score</a:t>
            </a:r>
            <a:endParaRPr b="0" lang="en-IE" sz="1300" spc="-1" strike="noStrike">
              <a:solidFill>
                <a:srgbClr val="000000"/>
              </a:solidFill>
              <a:latin typeface="Arial"/>
            </a:endParaRPr>
          </a:p>
        </p:txBody>
      </p:sp>
      <p:sp>
        <p:nvSpPr>
          <p:cNvPr id="64" name="Text 55"/>
          <p:cNvSpPr/>
          <p:nvPr/>
        </p:nvSpPr>
        <p:spPr>
          <a:xfrm>
            <a:off x="6464880" y="3108960"/>
            <a:ext cx="2148480" cy="73116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b="0" lang="en-US" sz="1800" spc="-1" strike="noStrike">
                <a:solidFill>
                  <a:schemeClr val="lt1"/>
                </a:solidFill>
                <a:latin typeface="Segoe UI Semibold"/>
                <a:ea typeface="Segoe UI Semibold"/>
              </a:rPr>
              <a:t>Level </a:t>
            </a:r>
            <a:r>
              <a:rPr b="0" lang="en-US" sz="4600" spc="-1" strike="noStrike">
                <a:solidFill>
                  <a:schemeClr val="lt1"/>
                </a:solidFill>
                <a:latin typeface="Segoe UI Semibold"/>
                <a:ea typeface="Segoe UI Semibold"/>
              </a:rPr>
              <a:t>4</a:t>
            </a:r>
            <a:r>
              <a:rPr b="0" lang="en-US" sz="1800" spc="-1" strike="noStrike">
                <a:solidFill>
                  <a:srgbClr val="b9c7d6"/>
                </a:solidFill>
                <a:latin typeface="Segoe UI Semibold"/>
                <a:ea typeface="Segoe UI Semibold"/>
              </a:rPr>
              <a:t>  of 5</a:t>
            </a:r>
            <a:endParaRPr b="0" lang="en-IE" sz="1800" spc="-1" strike="noStrike">
              <a:solidFill>
                <a:srgbClr val="000000"/>
              </a:solidFill>
              <a:latin typeface="Arial"/>
            </a:endParaRPr>
          </a:p>
        </p:txBody>
      </p:sp>
      <p:sp>
        <p:nvSpPr>
          <p:cNvPr id="65" name="Shape 56"/>
          <p:cNvSpPr/>
          <p:nvPr/>
        </p:nvSpPr>
        <p:spPr>
          <a:xfrm>
            <a:off x="6464880" y="3913560"/>
            <a:ext cx="392760" cy="82080"/>
          </a:xfrm>
          <a:prstGeom prst="rect">
            <a:avLst/>
          </a:prstGeom>
          <a:solidFill>
            <a:srgbClr val="0078d4"/>
          </a:solidFill>
          <a:ln w="0">
            <a:noFill/>
          </a:ln>
        </p:spPr>
        <p:style>
          <a:lnRef idx="0"/>
          <a:fillRef idx="0"/>
          <a:effectRef idx="0"/>
          <a:fontRef idx="minor"/>
        </p:style>
        <p:txBody>
          <a:bodyPr lIns="90000" rIns="90000" tIns="37440" bIns="37440" anchor="t">
            <a:noAutofit/>
          </a:bodyPr>
          <a:p>
            <a:endParaRPr b="0" lang="en-IE" sz="1800" spc="-1" strike="noStrike">
              <a:solidFill>
                <a:srgbClr val="ffffff"/>
              </a:solidFill>
              <a:latin typeface="Arial"/>
            </a:endParaRPr>
          </a:p>
        </p:txBody>
      </p:sp>
      <p:sp>
        <p:nvSpPr>
          <p:cNvPr id="66" name="Shape 57"/>
          <p:cNvSpPr/>
          <p:nvPr/>
        </p:nvSpPr>
        <p:spPr>
          <a:xfrm>
            <a:off x="6903720" y="3913560"/>
            <a:ext cx="392760" cy="82080"/>
          </a:xfrm>
          <a:prstGeom prst="rect">
            <a:avLst/>
          </a:prstGeom>
          <a:solidFill>
            <a:srgbClr val="0078d4"/>
          </a:solidFill>
          <a:ln w="0">
            <a:noFill/>
          </a:ln>
        </p:spPr>
        <p:style>
          <a:lnRef idx="0"/>
          <a:fillRef idx="0"/>
          <a:effectRef idx="0"/>
          <a:fontRef idx="minor"/>
        </p:style>
        <p:txBody>
          <a:bodyPr lIns="90000" rIns="90000" tIns="37440" bIns="37440" anchor="t">
            <a:noAutofit/>
          </a:bodyPr>
          <a:p>
            <a:endParaRPr b="0" lang="en-IE" sz="1800" spc="-1" strike="noStrike">
              <a:solidFill>
                <a:srgbClr val="ffffff"/>
              </a:solidFill>
              <a:latin typeface="Arial"/>
            </a:endParaRPr>
          </a:p>
        </p:txBody>
      </p:sp>
      <p:sp>
        <p:nvSpPr>
          <p:cNvPr id="67" name="Shape 58"/>
          <p:cNvSpPr/>
          <p:nvPr/>
        </p:nvSpPr>
        <p:spPr>
          <a:xfrm>
            <a:off x="7342560" y="3913560"/>
            <a:ext cx="392760" cy="82080"/>
          </a:xfrm>
          <a:prstGeom prst="rect">
            <a:avLst/>
          </a:prstGeom>
          <a:solidFill>
            <a:srgbClr val="0078d4"/>
          </a:solidFill>
          <a:ln w="0">
            <a:noFill/>
          </a:ln>
        </p:spPr>
        <p:style>
          <a:lnRef idx="0"/>
          <a:fillRef idx="0"/>
          <a:effectRef idx="0"/>
          <a:fontRef idx="minor"/>
        </p:style>
        <p:txBody>
          <a:bodyPr lIns="90000" rIns="90000" tIns="37440" bIns="37440" anchor="t">
            <a:noAutofit/>
          </a:bodyPr>
          <a:p>
            <a:endParaRPr b="0" lang="en-IE" sz="1800" spc="-1" strike="noStrike">
              <a:solidFill>
                <a:srgbClr val="ffffff"/>
              </a:solidFill>
              <a:latin typeface="Arial"/>
            </a:endParaRPr>
          </a:p>
        </p:txBody>
      </p:sp>
      <p:sp>
        <p:nvSpPr>
          <p:cNvPr id="68" name="Shape 59"/>
          <p:cNvSpPr/>
          <p:nvPr/>
        </p:nvSpPr>
        <p:spPr>
          <a:xfrm>
            <a:off x="7781400" y="3913560"/>
            <a:ext cx="392760" cy="82080"/>
          </a:xfrm>
          <a:prstGeom prst="rect">
            <a:avLst/>
          </a:prstGeom>
          <a:solidFill>
            <a:srgbClr val="0078d4"/>
          </a:solidFill>
          <a:ln w="0">
            <a:noFill/>
          </a:ln>
        </p:spPr>
        <p:style>
          <a:lnRef idx="0"/>
          <a:fillRef idx="0"/>
          <a:effectRef idx="0"/>
          <a:fontRef idx="minor"/>
        </p:style>
        <p:txBody>
          <a:bodyPr lIns="90000" rIns="90000" tIns="37440" bIns="37440" anchor="t">
            <a:noAutofit/>
          </a:bodyPr>
          <a:p>
            <a:endParaRPr b="0" lang="en-IE" sz="1800" spc="-1" strike="noStrike">
              <a:solidFill>
                <a:srgbClr val="ffffff"/>
              </a:solidFill>
              <a:latin typeface="Arial"/>
            </a:endParaRPr>
          </a:p>
        </p:txBody>
      </p:sp>
      <p:sp>
        <p:nvSpPr>
          <p:cNvPr id="69" name="Shape 60"/>
          <p:cNvSpPr/>
          <p:nvPr/>
        </p:nvSpPr>
        <p:spPr>
          <a:xfrm>
            <a:off x="8220600" y="3913560"/>
            <a:ext cx="392760" cy="82080"/>
          </a:xfrm>
          <a:prstGeom prst="rect">
            <a:avLst/>
          </a:prstGeom>
          <a:solidFill>
            <a:srgbClr val="34506e"/>
          </a:solidFill>
          <a:ln w="0">
            <a:noFill/>
          </a:ln>
        </p:spPr>
        <p:style>
          <a:lnRef idx="0"/>
          <a:fillRef idx="0"/>
          <a:effectRef idx="0"/>
          <a:fontRef idx="minor"/>
        </p:style>
        <p:txBody>
          <a:bodyPr lIns="90000" rIns="90000" tIns="37440" bIns="37440" anchor="t">
            <a:noAutofit/>
          </a:bodyPr>
          <a:p>
            <a:endParaRPr b="0" lang="en-IE" sz="1800" spc="-1" strike="noStrike">
              <a:solidFill>
                <a:srgbClr val="ffffff"/>
              </a:solidFill>
              <a:latin typeface="Arial"/>
            </a:endParaRPr>
          </a:p>
        </p:txBody>
      </p:sp>
      <p:sp>
        <p:nvSpPr>
          <p:cNvPr id="70" name="Text 61"/>
          <p:cNvSpPr/>
          <p:nvPr/>
        </p:nvSpPr>
        <p:spPr>
          <a:xfrm>
            <a:off x="6464880" y="4069080"/>
            <a:ext cx="214848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dce4ec"/>
                </a:solidFill>
                <a:latin typeface="Segoe UI"/>
              </a:rPr>
              <a:t>Up from level 1 at our first scan.</a:t>
            </a:r>
            <a:endParaRPr b="0" lang="en-IE" sz="1100" spc="-1" strike="noStrike">
              <a:solidFill>
                <a:srgbClr val="000000"/>
              </a:solidFill>
              <a:latin typeface="Arial"/>
            </a:endParaRPr>
          </a:p>
        </p:txBody>
      </p:sp>
      <p:sp>
        <p:nvSpPr>
          <p:cNvPr id="71" name="Shape 62"/>
          <p:cNvSpPr/>
          <p:nvPr/>
        </p:nvSpPr>
        <p:spPr>
          <a:xfrm>
            <a:off x="6464520" y="4416480"/>
            <a:ext cx="2148840" cy="360"/>
          </a:xfrm>
          <a:prstGeom prst="line">
            <a:avLst/>
          </a:prstGeom>
          <a:ln w="9525">
            <a:solidFill>
              <a:srgbClr val="34506e"/>
            </a:solidFill>
            <a:round/>
          </a:ln>
        </p:spPr>
        <p:style>
          <a:lnRef idx="0"/>
          <a:fillRef idx="0"/>
          <a:effectRef idx="0"/>
          <a:fontRef idx="minor"/>
        </p:style>
        <p:txBody>
          <a:bodyPr lIns="90000" rIns="90000" tIns="-44640" bIns="-44640" anchor="t" anchorCtr="1">
            <a:noAutofit/>
          </a:bodyPr>
          <a:p>
            <a:endParaRPr b="0" lang="en-IE" sz="1800" spc="-1" strike="noStrike">
              <a:solidFill>
                <a:srgbClr val="000000"/>
              </a:solidFill>
              <a:latin typeface="Arial"/>
            </a:endParaRPr>
          </a:p>
        </p:txBody>
      </p:sp>
      <p:sp>
        <p:nvSpPr>
          <p:cNvPr id="72" name="Text 63"/>
          <p:cNvSpPr/>
          <p:nvPr/>
        </p:nvSpPr>
        <p:spPr>
          <a:xfrm>
            <a:off x="6464880" y="4462200"/>
            <a:ext cx="73116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9c7d6"/>
                </a:solidFill>
                <a:latin typeface="Segoe UI"/>
              </a:rPr>
              <a:t>First</a:t>
            </a:r>
            <a:endParaRPr b="0" lang="en-IE" sz="1100" spc="-1" strike="noStrike">
              <a:solidFill>
                <a:srgbClr val="000000"/>
              </a:solidFill>
              <a:latin typeface="Arial"/>
            </a:endParaRPr>
          </a:p>
        </p:txBody>
      </p:sp>
      <p:sp>
        <p:nvSpPr>
          <p:cNvPr id="73" name="Text 64"/>
          <p:cNvSpPr/>
          <p:nvPr/>
        </p:nvSpPr>
        <p:spPr>
          <a:xfrm>
            <a:off x="7059240" y="4462200"/>
            <a:ext cx="8683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b38a"/>
                </a:solidFill>
                <a:latin typeface="Segoe UI"/>
              </a:rPr>
              <a:t>[Month Year]</a:t>
            </a:r>
            <a:endParaRPr b="0" lang="en-IE" sz="1100" spc="-1" strike="noStrike">
              <a:solidFill>
                <a:srgbClr val="000000"/>
              </a:solidFill>
              <a:latin typeface="Arial"/>
            </a:endParaRPr>
          </a:p>
        </p:txBody>
      </p:sp>
      <p:sp>
        <p:nvSpPr>
          <p:cNvPr id="74" name="Text 65"/>
          <p:cNvSpPr/>
          <p:nvPr/>
        </p:nvSpPr>
        <p:spPr>
          <a:xfrm>
            <a:off x="8110800" y="4462200"/>
            <a:ext cx="5025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100" spc="-1" strike="noStrike">
                <a:solidFill>
                  <a:schemeClr val="lt1"/>
                </a:solidFill>
                <a:latin typeface="Segoe UI Semibold"/>
                <a:ea typeface="Segoe UI Semibold"/>
              </a:rPr>
              <a:t>Level 1</a:t>
            </a:r>
            <a:endParaRPr b="0" lang="en-IE" sz="1100" spc="-1" strike="noStrike">
              <a:solidFill>
                <a:srgbClr val="000000"/>
              </a:solidFill>
              <a:latin typeface="Arial"/>
            </a:endParaRPr>
          </a:p>
        </p:txBody>
      </p:sp>
      <p:sp>
        <p:nvSpPr>
          <p:cNvPr id="75" name="Shape 66"/>
          <p:cNvSpPr/>
          <p:nvPr/>
        </p:nvSpPr>
        <p:spPr>
          <a:xfrm>
            <a:off x="6464520" y="4718160"/>
            <a:ext cx="2148840" cy="360"/>
          </a:xfrm>
          <a:prstGeom prst="line">
            <a:avLst/>
          </a:prstGeom>
          <a:ln w="9525">
            <a:solidFill>
              <a:srgbClr val="34506e"/>
            </a:solidFill>
            <a:round/>
          </a:ln>
        </p:spPr>
        <p:style>
          <a:lnRef idx="0"/>
          <a:fillRef idx="0"/>
          <a:effectRef idx="0"/>
          <a:fontRef idx="minor"/>
        </p:style>
        <p:txBody>
          <a:bodyPr lIns="90000" rIns="90000" tIns="-44640" bIns="-44640" anchor="t" anchorCtr="1">
            <a:noAutofit/>
          </a:bodyPr>
          <a:p>
            <a:endParaRPr b="0" lang="en-IE" sz="1800" spc="-1" strike="noStrike">
              <a:solidFill>
                <a:srgbClr val="000000"/>
              </a:solidFill>
              <a:latin typeface="Arial"/>
            </a:endParaRPr>
          </a:p>
        </p:txBody>
      </p:sp>
      <p:sp>
        <p:nvSpPr>
          <p:cNvPr id="76" name="Text 67"/>
          <p:cNvSpPr/>
          <p:nvPr/>
        </p:nvSpPr>
        <p:spPr>
          <a:xfrm>
            <a:off x="6464880" y="4763880"/>
            <a:ext cx="73116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9c7d6"/>
                </a:solidFill>
                <a:latin typeface="Segoe UI"/>
              </a:rPr>
              <a:t>Latest</a:t>
            </a:r>
            <a:endParaRPr b="0" lang="en-IE" sz="1100" spc="-1" strike="noStrike">
              <a:solidFill>
                <a:srgbClr val="000000"/>
              </a:solidFill>
              <a:latin typeface="Arial"/>
            </a:endParaRPr>
          </a:p>
        </p:txBody>
      </p:sp>
      <p:sp>
        <p:nvSpPr>
          <p:cNvPr id="77" name="Text 68"/>
          <p:cNvSpPr/>
          <p:nvPr/>
        </p:nvSpPr>
        <p:spPr>
          <a:xfrm>
            <a:off x="7059240" y="4763880"/>
            <a:ext cx="86832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b38a"/>
                </a:solidFill>
                <a:latin typeface="Segoe UI"/>
              </a:rPr>
              <a:t>[Month Year]</a:t>
            </a:r>
            <a:endParaRPr b="0" lang="en-IE" sz="1100" spc="-1" strike="noStrike">
              <a:solidFill>
                <a:srgbClr val="000000"/>
              </a:solidFill>
              <a:latin typeface="Arial"/>
            </a:endParaRPr>
          </a:p>
        </p:txBody>
      </p:sp>
      <p:sp>
        <p:nvSpPr>
          <p:cNvPr id="78" name="Text 69"/>
          <p:cNvSpPr/>
          <p:nvPr/>
        </p:nvSpPr>
        <p:spPr>
          <a:xfrm>
            <a:off x="8110800" y="4763880"/>
            <a:ext cx="502560" cy="228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100" spc="-1" strike="noStrike">
                <a:solidFill>
                  <a:schemeClr val="lt1"/>
                </a:solidFill>
                <a:latin typeface="Segoe UI Semibold"/>
                <a:ea typeface="Segoe UI Semibold"/>
              </a:rPr>
              <a:t>Level 4</a:t>
            </a:r>
            <a:endParaRPr b="0" lang="en-IE" sz="1100" spc="-1" strike="noStrike">
              <a:solidFill>
                <a:srgbClr val="000000"/>
              </a:solidFill>
              <a:latin typeface="Arial"/>
            </a:endParaRPr>
          </a:p>
        </p:txBody>
      </p:sp>
      <p:sp>
        <p:nvSpPr>
          <p:cNvPr id="79" name="Shape 70"/>
          <p:cNvSpPr/>
          <p:nvPr/>
        </p:nvSpPr>
        <p:spPr>
          <a:xfrm>
            <a:off x="6464520" y="5019840"/>
            <a:ext cx="2148840" cy="360"/>
          </a:xfrm>
          <a:prstGeom prst="line">
            <a:avLst/>
          </a:prstGeom>
          <a:ln w="9525">
            <a:solidFill>
              <a:srgbClr val="34506e"/>
            </a:solidFill>
            <a:round/>
          </a:ln>
        </p:spPr>
        <p:style>
          <a:lnRef idx="0"/>
          <a:fillRef idx="0"/>
          <a:effectRef idx="0"/>
          <a:fontRef idx="minor"/>
        </p:style>
        <p:txBody>
          <a:bodyPr lIns="90000" rIns="90000" tIns="-44640" bIns="-44640" anchor="t" anchorCtr="1">
            <a:noAutofit/>
          </a:bodyPr>
          <a:p>
            <a:endParaRPr b="0" lang="en-IE" sz="1800" spc="-1" strike="noStrike">
              <a:solidFill>
                <a:srgbClr val="000000"/>
              </a:solidFill>
              <a:latin typeface="Arial"/>
            </a:endParaRPr>
          </a:p>
        </p:txBody>
      </p:sp>
      <p:sp>
        <p:nvSpPr>
          <p:cNvPr id="80" name="Text 71"/>
          <p:cNvSpPr/>
          <p:nvPr/>
        </p:nvSpPr>
        <p:spPr>
          <a:xfrm>
            <a:off x="6464880" y="5102280"/>
            <a:ext cx="716040" cy="310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700" spc="-1" strike="noStrike">
                <a:solidFill>
                  <a:srgbClr val="ffb38a"/>
                </a:solidFill>
                <a:latin typeface="Segoe UI Semibold"/>
                <a:ea typeface="Segoe UI Semibold"/>
              </a:rPr>
              <a:t>[N]</a:t>
            </a:r>
            <a:endParaRPr b="0" lang="en-IE" sz="1700" spc="-1" strike="noStrike">
              <a:solidFill>
                <a:srgbClr val="000000"/>
              </a:solidFill>
              <a:latin typeface="Arial"/>
            </a:endParaRPr>
          </a:p>
        </p:txBody>
      </p:sp>
      <p:sp>
        <p:nvSpPr>
          <p:cNvPr id="81" name="Text 72"/>
          <p:cNvSpPr/>
          <p:nvPr/>
        </p:nvSpPr>
        <p:spPr>
          <a:xfrm>
            <a:off x="6464880" y="5413320"/>
            <a:ext cx="71604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9c7d6"/>
                </a:solidFill>
                <a:latin typeface="Segoe UI"/>
              </a:rPr>
              <a:t>fixed</a:t>
            </a:r>
            <a:endParaRPr b="0" lang="en-IE" sz="1100" spc="-1" strike="noStrike">
              <a:solidFill>
                <a:srgbClr val="000000"/>
              </a:solidFill>
              <a:latin typeface="Arial"/>
            </a:endParaRPr>
          </a:p>
        </p:txBody>
      </p:sp>
      <p:sp>
        <p:nvSpPr>
          <p:cNvPr id="82" name="Text 73"/>
          <p:cNvSpPr/>
          <p:nvPr/>
        </p:nvSpPr>
        <p:spPr>
          <a:xfrm>
            <a:off x="7180920" y="5102280"/>
            <a:ext cx="716040" cy="310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700" spc="-1" strike="noStrike">
                <a:solidFill>
                  <a:srgbClr val="ffb38a"/>
                </a:solidFill>
                <a:latin typeface="Segoe UI Semibold"/>
                <a:ea typeface="Segoe UI Semibold"/>
              </a:rPr>
              <a:t>[N]</a:t>
            </a:r>
            <a:endParaRPr b="0" lang="en-IE" sz="1700" spc="-1" strike="noStrike">
              <a:solidFill>
                <a:srgbClr val="000000"/>
              </a:solidFill>
              <a:latin typeface="Arial"/>
            </a:endParaRPr>
          </a:p>
        </p:txBody>
      </p:sp>
      <p:sp>
        <p:nvSpPr>
          <p:cNvPr id="83" name="Text 74"/>
          <p:cNvSpPr/>
          <p:nvPr/>
        </p:nvSpPr>
        <p:spPr>
          <a:xfrm>
            <a:off x="7180920" y="5413320"/>
            <a:ext cx="71604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9c7d6"/>
                </a:solidFill>
                <a:latin typeface="Segoe UI"/>
              </a:rPr>
              <a:t>people</a:t>
            </a:r>
            <a:endParaRPr b="0" lang="en-IE" sz="1100" spc="-1" strike="noStrike">
              <a:solidFill>
                <a:srgbClr val="000000"/>
              </a:solidFill>
              <a:latin typeface="Arial"/>
            </a:endParaRPr>
          </a:p>
        </p:txBody>
      </p:sp>
      <p:sp>
        <p:nvSpPr>
          <p:cNvPr id="84" name="Text 75"/>
          <p:cNvSpPr/>
          <p:nvPr/>
        </p:nvSpPr>
        <p:spPr>
          <a:xfrm>
            <a:off x="7897320" y="5102280"/>
            <a:ext cx="716040" cy="310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700" spc="-1" strike="noStrike">
                <a:solidFill>
                  <a:srgbClr val="ffb38a"/>
                </a:solidFill>
                <a:latin typeface="Segoe UI Semibold"/>
                <a:ea typeface="Segoe UI Semibold"/>
              </a:rPr>
              <a:t>[N]</a:t>
            </a:r>
            <a:endParaRPr b="0" lang="en-IE" sz="1700" spc="-1" strike="noStrike">
              <a:solidFill>
                <a:srgbClr val="000000"/>
              </a:solidFill>
              <a:latin typeface="Arial"/>
            </a:endParaRPr>
          </a:p>
        </p:txBody>
      </p:sp>
      <p:sp>
        <p:nvSpPr>
          <p:cNvPr id="85" name="Text 76"/>
          <p:cNvSpPr/>
          <p:nvPr/>
        </p:nvSpPr>
        <p:spPr>
          <a:xfrm>
            <a:off x="7897320" y="5413320"/>
            <a:ext cx="71604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b9c7d6"/>
                </a:solidFill>
                <a:latin typeface="Segoe UI"/>
              </a:rPr>
              <a:t>months</a:t>
            </a:r>
            <a:endParaRPr b="0" lang="en-IE" sz="1100" spc="-1" strike="noStrike">
              <a:solidFill>
                <a:srgbClr val="000000"/>
              </a:solidFill>
              <a:latin typeface="Arial"/>
            </a:endParaRPr>
          </a:p>
        </p:txBody>
      </p:sp>
      <p:sp>
        <p:nvSpPr>
          <p:cNvPr id="86" name="Shape 77"/>
          <p:cNvSpPr/>
          <p:nvPr/>
        </p:nvSpPr>
        <p:spPr>
          <a:xfrm>
            <a:off x="9125640" y="2724840"/>
            <a:ext cx="2606040" cy="360"/>
          </a:xfrm>
          <a:prstGeom prst="line">
            <a:avLst/>
          </a:prstGeom>
          <a:ln w="12700">
            <a:solidFill>
              <a:srgbClr val="8a8886"/>
            </a:solidFill>
            <a:round/>
          </a:ln>
        </p:spPr>
        <p:style>
          <a:lnRef idx="0"/>
          <a:fillRef idx="0"/>
          <a:effectRef idx="0"/>
          <a:fontRef idx="minor"/>
        </p:style>
        <p:txBody>
          <a:bodyPr lIns="90000" rIns="90000" tIns="-44640" bIns="-44640" anchor="t" anchorCtr="1">
            <a:noAutofit/>
          </a:bodyPr>
          <a:p>
            <a:endParaRPr b="0" lang="en-IE" sz="1800" spc="-1" strike="noStrike">
              <a:solidFill>
                <a:srgbClr val="000000"/>
              </a:solidFill>
              <a:latin typeface="Arial"/>
            </a:endParaRPr>
          </a:p>
        </p:txBody>
      </p:sp>
      <p:sp>
        <p:nvSpPr>
          <p:cNvPr id="87" name="Text 78"/>
          <p:cNvSpPr/>
          <p:nvPr/>
        </p:nvSpPr>
        <p:spPr>
          <a:xfrm>
            <a:off x="9125640" y="2816280"/>
            <a:ext cx="3654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accent1"/>
                </a:solidFill>
                <a:latin typeface="Segoe UI Semibold"/>
                <a:ea typeface="Segoe UI Semibold"/>
              </a:rPr>
              <a:t>04</a:t>
            </a:r>
            <a:endParaRPr b="0" lang="en-IE" sz="1200" spc="-1" strike="noStrike">
              <a:solidFill>
                <a:srgbClr val="000000"/>
              </a:solidFill>
              <a:latin typeface="Arial"/>
            </a:endParaRPr>
          </a:p>
        </p:txBody>
      </p:sp>
      <p:sp>
        <p:nvSpPr>
          <p:cNvPr id="88" name="Text 79"/>
          <p:cNvSpPr/>
          <p:nvPr/>
        </p:nvSpPr>
        <p:spPr>
          <a:xfrm>
            <a:off x="9491400" y="2816280"/>
            <a:ext cx="223992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chemeClr val="dk2"/>
                </a:solidFill>
                <a:latin typeface="Segoe UI Semibold"/>
                <a:ea typeface="Segoe UI Semibold"/>
              </a:rPr>
              <a:t>Gaps to level 5</a:t>
            </a:r>
            <a:endParaRPr b="0" lang="en-IE" sz="1300" spc="-1" strike="noStrike">
              <a:solidFill>
                <a:srgbClr val="000000"/>
              </a:solidFill>
              <a:latin typeface="Arial"/>
            </a:endParaRPr>
          </a:p>
        </p:txBody>
      </p:sp>
      <p:sp>
        <p:nvSpPr>
          <p:cNvPr id="89" name="Text 80"/>
          <p:cNvSpPr/>
          <p:nvPr/>
        </p:nvSpPr>
        <p:spPr>
          <a:xfrm>
            <a:off x="9125640" y="3227760"/>
            <a:ext cx="260568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chemeClr val="accent2"/>
                </a:solidFill>
                <a:latin typeface="Segoe UI Semibold"/>
                <a:ea typeface="Segoe UI Semibold"/>
              </a:rPr>
              <a:t>[N]</a:t>
            </a:r>
            <a:r>
              <a:rPr b="0" lang="en-US" sz="1200" spc="-1" strike="noStrike">
                <a:solidFill>
                  <a:schemeClr val="accent5"/>
                </a:solidFill>
                <a:latin typeface="Segoe UI"/>
                <a:ea typeface="Segoe UI Semibold"/>
              </a:rPr>
              <a:t> level-5 controls still open:</a:t>
            </a:r>
            <a:endParaRPr b="0" lang="en-IE" sz="1200" spc="-1" strike="noStrike">
              <a:solidFill>
                <a:srgbClr val="000000"/>
              </a:solidFill>
              <a:latin typeface="Arial"/>
            </a:endParaRPr>
          </a:p>
        </p:txBody>
      </p:sp>
      <p:sp>
        <p:nvSpPr>
          <p:cNvPr id="90" name="Shape 81"/>
          <p:cNvSpPr/>
          <p:nvPr/>
        </p:nvSpPr>
        <p:spPr>
          <a:xfrm>
            <a:off x="9125640" y="3547800"/>
            <a:ext cx="2606040" cy="360"/>
          </a:xfrm>
          <a:prstGeom prst="line">
            <a:avLst/>
          </a:prstGeom>
          <a:ln w="9525">
            <a:solidFill>
              <a:srgbClr val="e1dfdd"/>
            </a:solidFill>
            <a:round/>
          </a:ln>
        </p:spPr>
        <p:style>
          <a:lnRef idx="0"/>
          <a:fillRef idx="0"/>
          <a:effectRef idx="0"/>
          <a:fontRef idx="minor"/>
        </p:style>
        <p:txBody>
          <a:bodyPr lIns="90000" rIns="90000" tIns="-44640" bIns="-44640" anchor="t" anchorCtr="1">
            <a:noAutofit/>
          </a:bodyPr>
          <a:p>
            <a:endParaRPr b="0" lang="en-IE" sz="1800" spc="-1" strike="noStrike">
              <a:solidFill>
                <a:srgbClr val="000000"/>
              </a:solidFill>
              <a:latin typeface="Arial"/>
            </a:endParaRPr>
          </a:p>
        </p:txBody>
      </p:sp>
      <p:sp>
        <p:nvSpPr>
          <p:cNvPr id="91" name="Text 82"/>
          <p:cNvSpPr/>
          <p:nvPr/>
        </p:nvSpPr>
        <p:spPr>
          <a:xfrm>
            <a:off x="9125640" y="3611880"/>
            <a:ext cx="2605680" cy="383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chemeClr val="accent2"/>
                </a:solidFill>
                <a:latin typeface="Segoe UI"/>
              </a:rPr>
              <a:t>[Gap 1, e.g. full isolation of Tier 0 administration]</a:t>
            </a:r>
            <a:endParaRPr b="0" lang="en-IE" sz="1100" spc="-1" strike="noStrike">
              <a:solidFill>
                <a:srgbClr val="000000"/>
              </a:solidFill>
              <a:latin typeface="Arial"/>
            </a:endParaRPr>
          </a:p>
        </p:txBody>
      </p:sp>
      <p:sp>
        <p:nvSpPr>
          <p:cNvPr id="92" name="Text 83"/>
          <p:cNvSpPr/>
          <p:nvPr/>
        </p:nvSpPr>
        <p:spPr>
          <a:xfrm>
            <a:off x="9125640" y="4005000"/>
            <a:ext cx="260568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accent5"/>
                </a:solidFill>
                <a:latin typeface="Segoe UI"/>
              </a:rPr>
              <a:t>Owner </a:t>
            </a:r>
            <a:r>
              <a:rPr b="0" lang="en-US" sz="1000" spc="-1" strike="noStrike">
                <a:solidFill>
                  <a:schemeClr val="accent2"/>
                </a:solidFill>
                <a:latin typeface="Segoe UI"/>
              </a:rPr>
              <a:t>[Team]</a:t>
            </a:r>
            <a:r>
              <a:rPr b="0" lang="en-US" sz="1000" spc="-1" strike="noStrike">
                <a:solidFill>
                  <a:schemeClr val="accent5"/>
                </a:solidFill>
                <a:latin typeface="Segoe UI"/>
              </a:rPr>
              <a:t>   Target </a:t>
            </a:r>
            <a:r>
              <a:rPr b="0" lang="en-US" sz="1000" spc="-1" strike="noStrike">
                <a:solidFill>
                  <a:schemeClr val="accent2"/>
                </a:solidFill>
                <a:latin typeface="Segoe UI"/>
              </a:rPr>
              <a:t>[Qx YYYY]</a:t>
            </a:r>
            <a:endParaRPr b="0" lang="en-IE" sz="1000" spc="-1" strike="noStrike">
              <a:solidFill>
                <a:srgbClr val="000000"/>
              </a:solidFill>
              <a:latin typeface="Arial"/>
            </a:endParaRPr>
          </a:p>
        </p:txBody>
      </p:sp>
      <p:sp>
        <p:nvSpPr>
          <p:cNvPr id="93" name="Shape 84"/>
          <p:cNvSpPr/>
          <p:nvPr/>
        </p:nvSpPr>
        <p:spPr>
          <a:xfrm>
            <a:off x="9125640" y="4251960"/>
            <a:ext cx="2606040" cy="360"/>
          </a:xfrm>
          <a:prstGeom prst="line">
            <a:avLst/>
          </a:prstGeom>
          <a:ln w="9525">
            <a:solidFill>
              <a:srgbClr val="e1dfdd"/>
            </a:solidFill>
            <a:round/>
          </a:ln>
        </p:spPr>
        <p:style>
          <a:lnRef idx="0"/>
          <a:fillRef idx="0"/>
          <a:effectRef idx="0"/>
          <a:fontRef idx="minor"/>
        </p:style>
        <p:txBody>
          <a:bodyPr lIns="90000" rIns="90000" tIns="-44640" bIns="-44640" anchor="t" anchorCtr="1">
            <a:noAutofit/>
          </a:bodyPr>
          <a:p>
            <a:endParaRPr b="0" lang="en-IE" sz="1800" spc="-1" strike="noStrike">
              <a:solidFill>
                <a:srgbClr val="000000"/>
              </a:solidFill>
              <a:latin typeface="Arial"/>
            </a:endParaRPr>
          </a:p>
        </p:txBody>
      </p:sp>
      <p:sp>
        <p:nvSpPr>
          <p:cNvPr id="94" name="Text 85"/>
          <p:cNvSpPr/>
          <p:nvPr/>
        </p:nvSpPr>
        <p:spPr>
          <a:xfrm>
            <a:off x="9125640" y="4316040"/>
            <a:ext cx="2605680" cy="383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chemeClr val="accent2"/>
                </a:solidFill>
                <a:latin typeface="Segoe UI"/>
              </a:rPr>
              <a:t>[Gap 2, e.g. authentication silos for privileged accounts]</a:t>
            </a:r>
            <a:endParaRPr b="0" lang="en-IE" sz="1100" spc="-1" strike="noStrike">
              <a:solidFill>
                <a:srgbClr val="000000"/>
              </a:solidFill>
              <a:latin typeface="Arial"/>
            </a:endParaRPr>
          </a:p>
        </p:txBody>
      </p:sp>
      <p:sp>
        <p:nvSpPr>
          <p:cNvPr id="95" name="Text 86"/>
          <p:cNvSpPr/>
          <p:nvPr/>
        </p:nvSpPr>
        <p:spPr>
          <a:xfrm>
            <a:off x="9125640" y="4709160"/>
            <a:ext cx="260568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accent5"/>
                </a:solidFill>
                <a:latin typeface="Segoe UI"/>
              </a:rPr>
              <a:t>Owner </a:t>
            </a:r>
            <a:r>
              <a:rPr b="0" lang="en-US" sz="1000" spc="-1" strike="noStrike">
                <a:solidFill>
                  <a:schemeClr val="accent2"/>
                </a:solidFill>
                <a:latin typeface="Segoe UI"/>
              </a:rPr>
              <a:t>[Team]</a:t>
            </a:r>
            <a:r>
              <a:rPr b="0" lang="en-US" sz="1000" spc="-1" strike="noStrike">
                <a:solidFill>
                  <a:schemeClr val="accent5"/>
                </a:solidFill>
                <a:latin typeface="Segoe UI"/>
              </a:rPr>
              <a:t>   Target </a:t>
            </a:r>
            <a:r>
              <a:rPr b="0" lang="en-US" sz="1000" spc="-1" strike="noStrike">
                <a:solidFill>
                  <a:schemeClr val="accent2"/>
                </a:solidFill>
                <a:latin typeface="Segoe UI"/>
              </a:rPr>
              <a:t>[Qx YYYY]</a:t>
            </a:r>
            <a:endParaRPr b="0" lang="en-IE" sz="1000" spc="-1" strike="noStrike">
              <a:solidFill>
                <a:srgbClr val="000000"/>
              </a:solidFill>
              <a:latin typeface="Arial"/>
            </a:endParaRPr>
          </a:p>
        </p:txBody>
      </p:sp>
      <p:sp>
        <p:nvSpPr>
          <p:cNvPr id="96" name="Shape 87"/>
          <p:cNvSpPr/>
          <p:nvPr/>
        </p:nvSpPr>
        <p:spPr>
          <a:xfrm>
            <a:off x="9125640" y="4955760"/>
            <a:ext cx="2606040" cy="360"/>
          </a:xfrm>
          <a:prstGeom prst="line">
            <a:avLst/>
          </a:prstGeom>
          <a:ln w="9525">
            <a:solidFill>
              <a:srgbClr val="e1dfdd"/>
            </a:solidFill>
            <a:round/>
          </a:ln>
        </p:spPr>
        <p:style>
          <a:lnRef idx="0"/>
          <a:fillRef idx="0"/>
          <a:effectRef idx="0"/>
          <a:fontRef idx="minor"/>
        </p:style>
        <p:txBody>
          <a:bodyPr lIns="90000" rIns="90000" tIns="-44640" bIns="-44640" anchor="t" anchorCtr="1">
            <a:noAutofit/>
          </a:bodyPr>
          <a:p>
            <a:endParaRPr b="0" lang="en-IE" sz="1800" spc="-1" strike="noStrike">
              <a:solidFill>
                <a:srgbClr val="000000"/>
              </a:solidFill>
              <a:latin typeface="Arial"/>
            </a:endParaRPr>
          </a:p>
        </p:txBody>
      </p:sp>
      <p:sp>
        <p:nvSpPr>
          <p:cNvPr id="97" name="Text 88"/>
          <p:cNvSpPr/>
          <p:nvPr/>
        </p:nvSpPr>
        <p:spPr>
          <a:xfrm>
            <a:off x="9125640" y="5020200"/>
            <a:ext cx="2605680" cy="383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chemeClr val="accent2"/>
                </a:solidFill>
                <a:latin typeface="Segoe UI"/>
              </a:rPr>
              <a:t>[Gap 3, from the latest ADS report]</a:t>
            </a:r>
            <a:endParaRPr b="0" lang="en-IE" sz="1100" spc="-1" strike="noStrike">
              <a:solidFill>
                <a:srgbClr val="000000"/>
              </a:solidFill>
              <a:latin typeface="Arial"/>
            </a:endParaRPr>
          </a:p>
        </p:txBody>
      </p:sp>
      <p:sp>
        <p:nvSpPr>
          <p:cNvPr id="98" name="Text 89"/>
          <p:cNvSpPr/>
          <p:nvPr/>
        </p:nvSpPr>
        <p:spPr>
          <a:xfrm>
            <a:off x="9125640" y="5413320"/>
            <a:ext cx="2605680" cy="200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chemeClr val="accent5"/>
                </a:solidFill>
                <a:latin typeface="Segoe UI"/>
              </a:rPr>
              <a:t>Owner </a:t>
            </a:r>
            <a:r>
              <a:rPr b="0" lang="en-US" sz="1000" spc="-1" strike="noStrike">
                <a:solidFill>
                  <a:schemeClr val="accent2"/>
                </a:solidFill>
                <a:latin typeface="Segoe UI"/>
              </a:rPr>
              <a:t>[Team]</a:t>
            </a:r>
            <a:r>
              <a:rPr b="0" lang="en-US" sz="1000" spc="-1" strike="noStrike">
                <a:solidFill>
                  <a:schemeClr val="accent5"/>
                </a:solidFill>
                <a:latin typeface="Segoe UI"/>
              </a:rPr>
              <a:t>   Target </a:t>
            </a:r>
            <a:r>
              <a:rPr b="0" lang="en-US" sz="1000" spc="-1" strike="noStrike">
                <a:solidFill>
                  <a:schemeClr val="accent2"/>
                </a:solidFill>
                <a:latin typeface="Segoe UI"/>
              </a:rPr>
              <a:t>[Qx YYYY]</a:t>
            </a:r>
            <a:endParaRPr b="0" lang="en-IE" sz="1000" spc="-1" strike="noStrike">
              <a:solidFill>
                <a:srgbClr val="000000"/>
              </a:solidFill>
              <a:latin typeface="Arial"/>
            </a:endParaRPr>
          </a:p>
        </p:txBody>
      </p:sp>
      <p:sp>
        <p:nvSpPr>
          <p:cNvPr id="99" name="Board ask"/>
          <p:cNvSpPr/>
          <p:nvPr/>
        </p:nvSpPr>
        <p:spPr>
          <a:xfrm>
            <a:off x="457200" y="5852160"/>
            <a:ext cx="11274120" cy="456840"/>
          </a:xfrm>
          <a:prstGeom prst="rect">
            <a:avLst/>
          </a:prstGeom>
          <a:solidFill>
            <a:schemeClr val="bg2"/>
          </a:solidFill>
          <a:ln w="0">
            <a:noFill/>
          </a:ln>
        </p:spPr>
        <p:style>
          <a:lnRef idx="0"/>
          <a:fillRef idx="0"/>
          <a:effectRef idx="0"/>
          <a:fontRef idx="minor"/>
        </p:style>
        <p:txBody>
          <a:bodyPr lIns="90000" rIns="90000" tIns="45000" bIns="45000" anchor="t">
            <a:noAutofit/>
          </a:bodyPr>
          <a:p>
            <a:endParaRPr b="0" lang="en-IE" sz="1800" spc="-1" strike="noStrike">
              <a:solidFill>
                <a:srgbClr val="000000"/>
              </a:solidFill>
              <a:latin typeface="Arial"/>
            </a:endParaRPr>
          </a:p>
        </p:txBody>
      </p:sp>
      <p:sp>
        <p:nvSpPr>
          <p:cNvPr id="100" name="Text 91"/>
          <p:cNvSpPr/>
          <p:nvPr/>
        </p:nvSpPr>
        <p:spPr>
          <a:xfrm>
            <a:off x="685800" y="5852160"/>
            <a:ext cx="1088100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chemeClr val="dk2"/>
                </a:solidFill>
                <a:latin typeface="Segoe UI Semibold"/>
                <a:ea typeface="Segoe UI Semibold"/>
              </a:rPr>
              <a:t>Decision requested   </a:t>
            </a:r>
            <a:r>
              <a:rPr b="0" lang="en-US" sz="1200" spc="-1" strike="noStrike">
                <a:solidFill>
                  <a:schemeClr val="accent2"/>
                </a:solidFill>
                <a:latin typeface="Segoe UI"/>
                <a:ea typeface="Segoe UI Semibold"/>
              </a:rPr>
              <a:t>[Your ask, e.g. approve time and budget to close the level-5 gaps and keep regular scans]</a:t>
            </a:r>
            <a:endParaRPr b="0" lang="en-IE" sz="1200" spc="-1" strike="noStrike">
              <a:solidFill>
                <a:srgbClr val="000000"/>
              </a:solidFill>
              <a:latin typeface="Arial"/>
            </a:endParaRPr>
          </a:p>
        </p:txBody>
      </p:sp>
      <p:sp>
        <p:nvSpPr>
          <p:cNvPr id="101" name="Text 92"/>
          <p:cNvSpPr/>
          <p:nvPr/>
        </p:nvSpPr>
        <p:spPr>
          <a:xfrm>
            <a:off x="457200" y="6428160"/>
            <a:ext cx="10058040" cy="228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chemeClr val="accent5"/>
                </a:solidFill>
                <a:latin typeface="Segoe UI"/>
              </a:rPr>
              <a:t>Source: domain ratings from </a:t>
            </a:r>
            <a:r>
              <a:rPr b="0" lang="en-US" sz="900" spc="-1" strike="noStrike">
                <a:solidFill>
                  <a:schemeClr val="accent2"/>
                </a:solidFill>
                <a:latin typeface="Segoe UI"/>
              </a:rPr>
              <a:t>[framework / latest internal assessment, Month Year]</a:t>
            </a:r>
            <a:r>
              <a:rPr b="0" lang="en-US" sz="900" spc="-1" strike="noStrike">
                <a:solidFill>
                  <a:schemeClr val="accent5"/>
                </a:solidFill>
                <a:latin typeface="Segoe UI"/>
              </a:rPr>
              <a:t>; Active Directory score from ANSSI ADS reports (ORADAD collection).</a:t>
            </a:r>
            <a:endParaRPr b="0" lang="en-IE" sz="900" spc="-1" strike="noStrike">
              <a:solidFill>
                <a:srgbClr val="000000"/>
              </a:solidFill>
              <a:latin typeface="Arial"/>
            </a:endParaRPr>
          </a:p>
        </p:txBody>
      </p:sp>
      <p:sp>
        <p:nvSpPr>
          <p:cNvPr id="102" name="PlaceHolder 1"/>
          <p:cNvSpPr>
            <a:spLocks noGrp="1"/>
          </p:cNvSpPr>
          <p:nvPr>
            <p:ph type="sldNum" idx="5"/>
          </p:nvPr>
        </p:nvSpPr>
        <p:spPr>
          <a:xfrm>
            <a:off x="11365920" y="6400800"/>
            <a:ext cx="365400" cy="228240"/>
          </a:xfrm>
          <a:prstGeom prst="rect">
            <a:avLst/>
          </a:prstGeom>
          <a:noFill/>
          <a:ln w="0">
            <a:noFill/>
          </a:ln>
        </p:spPr>
        <p:txBody>
          <a:bodyPr lIns="90000" rIns="90000" tIns="45000" bIns="45000" anchor="t">
            <a:noAutofit/>
          </a:bodyPr>
          <a:lstStyle>
            <a:lvl1pPr indent="0" algn="r" defTabSz="914400">
              <a:lnSpc>
                <a:spcPct val="100000"/>
              </a:lnSpc>
              <a:buNone/>
              <a:defRPr b="0" lang="en-US" sz="900" spc="-1" strike="noStrike">
                <a:solidFill>
                  <a:srgbClr val="605e5c"/>
                </a:solidFill>
                <a:latin typeface="Segoe UI"/>
              </a:defRPr>
            </a:lvl1pPr>
          </a:lstStyle>
          <a:p>
            <a:pPr indent="0" algn="r" defTabSz="914400">
              <a:lnSpc>
                <a:spcPct val="100000"/>
              </a:lnSpc>
              <a:buNone/>
            </a:pPr>
            <a:fld id="{08990093-89E9-4E56-918A-220E9F49FED3}" type="slidenum">
              <a:rPr b="0" lang="en-US" sz="900" spc="-1" strike="noStrike">
                <a:solidFill>
                  <a:srgbClr val="605e5c"/>
                </a:solidFill>
                <a:latin typeface="Segoe UI"/>
              </a:rPr>
              <a:t>&lt;number&gt;</a:t>
            </a:fld>
            <a:endParaRPr b="0" lang="en-IE"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Executive">
  <a:themeElements>
    <a:clrScheme name="Office Executive">
      <a:dk1>
        <a:srgbClr val="201f1e"/>
      </a:dk1>
      <a:lt1>
        <a:srgbClr val="ffffff"/>
      </a:lt1>
      <a:dk2>
        <a:srgbClr val="0b2a4a"/>
      </a:dk2>
      <a:lt2>
        <a:srgbClr val="f3f2f1"/>
      </a:lt2>
      <a:accent1>
        <a:srgbClr val="0078d4"/>
      </a:accent1>
      <a:accent2>
        <a:srgbClr val="d83b01"/>
      </a:accent2>
      <a:accent3>
        <a:srgbClr val="50e6ff"/>
      </a:accent3>
      <a:accent4>
        <a:srgbClr val="107c10"/>
      </a:accent4>
      <a:accent5>
        <a:srgbClr val="605e5c"/>
      </a:accent5>
      <a:accent6>
        <a:srgbClr val="8a8886"/>
      </a:accent6>
      <a:hlink>
        <a:srgbClr val="0078d4"/>
      </a:hlink>
      <a:folHlink>
        <a:srgbClr val="605e5c"/>
      </a:folHlink>
    </a:clrScheme>
    <a:fontScheme name="Office Executive">
      <a:majorFont>
        <a:latin typeface="Segoe UI Semibold" pitchFamily="0" charset="1"/>
        <a:ea typeface=""/>
        <a:cs typeface=""/>
      </a:majorFont>
      <a:minorFont>
        <a:latin typeface="Segoe U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2026-10-14T19:53:20Z</dcterms:created>
  <dc:creator/>
  <dc:description/>
  <dc:language>en-IE</dc:language>
  <cp:lastModifiedBy/>
  <dcterms:modified xsi:type="dcterms:W3CDTF">2026-10-14T19:53:20Z</dcterms:modified>
  <cp:revision>1</cp:revision>
  <dc:subject>Security posture and Active Directory assessment</dc:subject>
  <dc:title>ORADAD board briefing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On-screen Show (16:9)</vt:lpwstr>
  </property>
  <property fmtid="{D5CDD505-2E9C-101B-9397-08002B2CF9AE}" pid="4" name="Slides">
    <vt:r8>1</vt:r8>
  </property>
</Properties>
</file>